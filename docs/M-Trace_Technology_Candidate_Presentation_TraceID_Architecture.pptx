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66" r:id="rId15"/>
    <p:sldId id="257" r:id="rId4"/>
    <p:sldId id="258" r:id="rId5"/>
    <p:sldId id="260" r:id="rId7"/>
    <p:sldId id="259" r:id="rId6"/>
    <p:sldId id="261" r:id="rId8"/>
    <p:sldId id="263" r:id="rId9"/>
    <p:sldId id="264" r:id="rId10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66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3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795528"/>
            <a:ext cx="7040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42D6C1"/>
                </a:solidFill>
                <a:latin typeface="Malgun Gothic"/>
              </a:rPr>
              <a:t>기술개발 후보 발표  ·  약 10분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536192"/>
            <a:ext cx="6400800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4600" b="1">
                <a:solidFill>
                  <a:srgbClr val="F3F6FC"/>
                </a:solidFill>
                <a:latin typeface="Malgun Gothic"/>
              </a:rPr>
              <a:t>M-Trace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441448"/>
            <a:ext cx="658368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>
                <a:solidFill>
                  <a:srgbClr val="F3F6FC"/>
                </a:solidFill>
                <a:latin typeface="Malgun Gothic"/>
              </a:rPr>
              <a:t>서비스 요청 흐름·장애 원인 추적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218688"/>
            <a:ext cx="6400800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AAB7CC"/>
                </a:solidFill>
                <a:latin typeface="Malgun Gothic"/>
              </a:rPr>
              <a:t>WEB·WAS·APM 운영 데이터를 연결해
서비스 요청 흐름과 장애 원인을 추적합니다.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AAB7CC"/>
                </a:solidFill>
                <a:latin typeface="Malgun Gothic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36992" y="786384"/>
            <a:ext cx="3639312" cy="4526280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75320" y="1170432"/>
            <a:ext cx="2962656" cy="886968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58200" y="1289304"/>
            <a:ext cx="25603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36192"/>
            <a:ext cx="2578608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F3F6FC"/>
                </a:solidFill>
                <a:latin typeface="Malgun Gothic"/>
              </a:rPr>
              <a:t>Apache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56648" y="2066543"/>
            <a:ext cx="0" cy="329185"/>
          </a:xfrm>
          <a:prstGeom prst="line">
            <a:avLst/>
          </a:prstGeom>
          <a:ln w="254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75320" y="2432304"/>
            <a:ext cx="2962656" cy="886968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2551176"/>
            <a:ext cx="25603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A9FF"/>
                </a:solidFill>
                <a:latin typeface="Malgun Gothic"/>
              </a:rPr>
              <a:t>WAS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98064"/>
            <a:ext cx="2578608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F3F6FC"/>
                </a:solidFill>
                <a:latin typeface="Malgun Gothic"/>
              </a:rPr>
              <a:t>Tomcat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56648" y="3328416"/>
            <a:ext cx="0" cy="329184"/>
          </a:xfrm>
          <a:prstGeom prst="line">
            <a:avLst/>
          </a:prstGeom>
          <a:ln w="254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75320" y="3694176"/>
            <a:ext cx="2962656" cy="886968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3813048"/>
            <a:ext cx="25603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FC36B"/>
                </a:solidFill>
                <a:latin typeface="Malgun Gothic"/>
              </a:rPr>
              <a:t>APM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059936"/>
            <a:ext cx="2578608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F3F6FC"/>
                </a:solidFill>
                <a:latin typeface="Malgun Gothic"/>
              </a:rPr>
              <a:t>Scouter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09744"/>
            <a:ext cx="6537960" cy="640080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" y="4965192"/>
            <a:ext cx="6108192" cy="301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42D6C1"/>
                </a:solidFill>
                <a:latin typeface="Malgun Gothic"/>
              </a:rPr>
              <a:t>목표  |  초동 분석 시간을 줄이고, 판단 근거를 남기는 진단 보조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501384"/>
            <a:ext cx="86868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기준 환경 예시: Apache · Tomcat · Scouter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8128" y="6483096"/>
            <a:ext cx="13716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>01</a:t>
            </a:r>
            <a:endParaRPr sz="900" b="0">
              <a:solidFill>
                <a:srgbClr val="AAB7CC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246888"/>
            <a:ext cx="108813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2. 고객 문제와 사업 기회 확인 · 핵심 논의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760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3F6FC"/>
                </a:solidFill>
                <a:latin typeface="Malgun Gothic"/>
              </a:rPr>
              <a:t>서비스 장애 원인 분석 과정의 문제와 사업 기회를 살펴봅니다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307592"/>
            <a:ext cx="11009376" cy="0"/>
          </a:xfrm>
          <a:prstGeom prst="line">
            <a:avLst/>
          </a:prstGeom>
          <a:ln w="127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5216" y="6501384"/>
            <a:ext cx="89611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83096"/>
            <a:ext cx="22128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618488"/>
            <a:ext cx="3483864" cy="15910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618488"/>
            <a:ext cx="50292" cy="1591056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42976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1737360"/>
            <a:ext cx="2724912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고객·대상 업무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139696"/>
            <a:ext cx="3127248" cy="9692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미들웨어 운영 고객 또는 활용자(엔지니어)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대상 업무: 장애 발생 시 원인 분석·복구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18488"/>
            <a:ext cx="3483864" cy="15910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618488"/>
            <a:ext cx="50292" cy="1591056"/>
          </a:xfrm>
          <a:prstGeom prst="rect">
            <a:avLst/>
          </a:prstGeom>
          <a:solidFill>
            <a:srgbClr val="70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755648"/>
            <a:ext cx="42976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0A9FF"/>
                </a:solidFill>
                <a:latin typeface="Malgun Gothic"/>
              </a:rPr>
              <a:t>2.2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6904" y="1737360"/>
            <a:ext cx="2724912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현재 흐름·사용 솔루션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139696"/>
            <a:ext cx="3127248" cy="9692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장애 접수 → 로그 확인 / APM 확인 → 변경 이력·원인 확인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APM: Scouter·와탭·제니퍼·인터맥스 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인프라: Sysmaster·Zenius·G-EMS 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1618488"/>
            <a:ext cx="3483864" cy="15910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1618488"/>
            <a:ext cx="50292" cy="1591056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6" y="1755648"/>
            <a:ext cx="42976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C36B"/>
                </a:solidFill>
                <a:latin typeface="Malgun Gothic"/>
              </a:rPr>
              <a:t>2.3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2" y="1737360"/>
            <a:ext cx="2724912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반복 작업·지연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139696"/>
            <a:ext cx="3127248" cy="9692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화면마다 구간별 로그·상태를 찾아 시간을 맞추고 사람이 인과관계를 연결.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담당자 경험에 의존하고 초동 대응이 늦어질 수 있음.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3474720"/>
            <a:ext cx="3483864" cy="15910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3474720"/>
            <a:ext cx="50292" cy="1591056"/>
          </a:xfrm>
          <a:prstGeom prst="rect">
            <a:avLst/>
          </a:prstGeom>
          <a:solidFill>
            <a:srgbClr val="70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611879"/>
            <a:ext cx="42976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0A9FF"/>
                </a:solidFill>
                <a:latin typeface="Malgun Gothic"/>
              </a:rPr>
              <a:t>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593591"/>
            <a:ext cx="2724912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기존 도구로 남는 공백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3995928"/>
            <a:ext cx="3127248" cy="9692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분야별 자료는 있지만 연결과 공통 확인 절차는 별도 작업.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팀장이 각 담당자에게 상태·로그를 물어 취합·연결하는 사례.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474720"/>
            <a:ext cx="3483864" cy="15910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474720"/>
            <a:ext cx="50292" cy="1591056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98848" y="3611879"/>
            <a:ext cx="42976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2.5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46904" y="3593591"/>
            <a:ext cx="2724912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고객이 얻는 효과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3995928"/>
            <a:ext cx="3127248" cy="9692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팀장이 정보를 수작업으로 취합하는 대신, 한 담당자가 한 화면에서 전체 상황과 근거를 확인하는 것을 목표로 함.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5008" y="3474720"/>
            <a:ext cx="3483864" cy="15910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5008" y="3474720"/>
            <a:ext cx="50292" cy="1591056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0456" y="3611879"/>
            <a:ext cx="42976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C36B"/>
                </a:solidFill>
                <a:latin typeface="Malgun Gothic"/>
              </a:rPr>
              <a:t>2.6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8512" y="3593591"/>
            <a:ext cx="2724912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다른 고객 적용성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38744" y="3995928"/>
            <a:ext cx="3127248" cy="9692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이기종 솔루션별 환경 차이로 생기는 분석 간극을 공통 모델·연결 방식으로 얼마나 수용할 수 있는지 검토.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" y="5367528"/>
            <a:ext cx="10927080" cy="530352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" y="5477256"/>
            <a:ext cx="10442448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2D6C1"/>
                </a:solidFill>
                <a:latin typeface="Malgun Gothic"/>
              </a:rPr>
              <a:t>토의 결과물  |  고객 사례로 확인할 핵심 문제 1~3개를 선정 (현재는 조사 필요)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246888"/>
            <a:ext cx="108813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2. 고객 문제와 사업 기회 확인 · 질문 및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760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3F6FC"/>
                </a:solidFill>
                <a:latin typeface="Malgun Gothic"/>
              </a:rPr>
              <a:t>현장 질문으로 문제의 크기와 우선순위를 확인합니다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307592"/>
            <a:ext cx="11009376" cy="0"/>
          </a:xfrm>
          <a:prstGeom prst="line">
            <a:avLst/>
          </a:prstGeom>
          <a:ln w="127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5216" y="6501384"/>
            <a:ext cx="89611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83096"/>
            <a:ext cx="22128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72768"/>
            <a:ext cx="6629400" cy="63093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572768"/>
            <a:ext cx="50292" cy="630936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682495"/>
            <a:ext cx="193852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3F6FC"/>
                </a:solidFill>
                <a:latin typeface="Malgun Gothic"/>
              </a:rPr>
              <a:t>가장 자주 겪는 불편은?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45920"/>
            <a:ext cx="4297680" cy="4846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장애 발생 후 원인 분석 과정에서 어떤 업무·구간이 가장 어렵고 오래 걸리는가?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322576"/>
            <a:ext cx="6629400" cy="63093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2322576"/>
            <a:ext cx="50292" cy="630936"/>
          </a:xfrm>
          <a:prstGeom prst="rect">
            <a:avLst/>
          </a:prstGeom>
          <a:solidFill>
            <a:srgbClr val="70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432304"/>
            <a:ext cx="193852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3F6FC"/>
                </a:solidFill>
                <a:latin typeface="Malgun Gothic"/>
              </a:rPr>
              <a:t>사람이 다시 확인하는 지점은?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395728"/>
            <a:ext cx="4297680" cy="4846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분야별 담당자가 자기 로그를 본 뒤 팀장이 결과를 취합하는가? 이 과정에서 초동 대응은 얼마나 늦어지는가?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3072384"/>
            <a:ext cx="6629400" cy="63093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" y="3072384"/>
            <a:ext cx="50292" cy="630936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182112"/>
            <a:ext cx="193852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3F6FC"/>
                </a:solidFill>
                <a:latin typeface="Malgun Gothic"/>
              </a:rPr>
              <a:t>현재 도구가 놓치는 맥락은?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145536"/>
            <a:ext cx="4297680" cy="4846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각 분야 지표·로그는 보이더라도 로그 간 연결성·인과관계는 별도 확인이 필요한가?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3822191"/>
            <a:ext cx="6629400" cy="63093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" y="3822191"/>
            <a:ext cx="50292" cy="630936"/>
          </a:xfrm>
          <a:prstGeom prst="rect">
            <a:avLst/>
          </a:prstGeom>
          <a:solidFill>
            <a:srgbClr val="70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931920"/>
            <a:ext cx="193852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3F6FC"/>
                </a:solidFill>
                <a:latin typeface="Malgun Gothic"/>
              </a:rPr>
              <a:t>AI 분석은 어디까지 신뢰할 수 있나?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895344"/>
            <a:ext cx="4297680" cy="4846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로그 묶음 분석은 가능하지만, 운영 맥락·인과관계가 빠지거나 모델별 결과가 다를 수 있어 사람의 재검증이 필요한가? 폐쇄망 제약은 있는가?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" y="4572000"/>
            <a:ext cx="6629400" cy="63093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" y="4572000"/>
            <a:ext cx="50292" cy="630936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681728"/>
            <a:ext cx="193852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3F6FC"/>
                </a:solidFill>
                <a:latin typeface="Malgun Gothic"/>
              </a:rPr>
              <a:t>효과와 지불 필요성을 어떻게 볼까?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645152"/>
            <a:ext cx="4297680" cy="4846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평균 초동 대응시간 감소율·담당자 투입 노력으로 측정할 수 있는가? 24시간 QoS 서비스의 장애 대응 부담은 비용을 지불할 만큼 큰가?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79792" y="1572768"/>
            <a:ext cx="4069080" cy="1947672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08392" y="1792224"/>
            <a:ext cx="3593592" cy="301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42D6C1"/>
                </a:solidFill>
                <a:latin typeface="Malgun Gothic"/>
              </a:rPr>
              <a:t>사업 기회 가설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8392" y="2221992"/>
            <a:ext cx="3575304" cy="103327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3F6FC"/>
                </a:solidFill>
                <a:latin typeface="Malgun Gothic"/>
              </a:rPr>
              <a:t>미들웨어 제품 자체 장애보다, 상향 평준화된 운영 환경에서 이기종 WEB/WAS/APM 정보를 연결하고 대응하는 일이 고객 부담일 수 있음.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3F6FC"/>
                </a:solidFill>
                <a:latin typeface="Malgun Gothic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3F6FC"/>
                </a:solidFill>
                <a:latin typeface="Malgun Gothic"/>
              </a:rPr>
              <a:t>24시간 QoS 서비스는 실제 사례·고객 인터뷰로 중요도와 지불 의사 확인 필요.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79792" y="3730752"/>
            <a:ext cx="4069080" cy="1261872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79792" y="3730752"/>
            <a:ext cx="50292" cy="1261872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08392" y="3922776"/>
            <a:ext cx="3593592" cy="2834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C36B"/>
                </a:solidFill>
                <a:latin typeface="Malgun Gothic"/>
              </a:rPr>
              <a:t>결정 사항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08392" y="4315968"/>
            <a:ext cx="3584448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3F6FC"/>
                </a:solidFill>
                <a:latin typeface="Malgun Gothic"/>
              </a:rPr>
              <a:t>우선 해결할 고객 문제 1~3개: 고객 사례·지원 이력 조사 후 선정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" y="5486400"/>
            <a:ext cx="10927080" cy="438912"/>
          </a:xfrm>
          <a:prstGeom prst="roundRect">
            <a:avLst/>
          </a:prstGeom>
          <a:solidFill>
            <a:srgbClr val="173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" y="5559552"/>
            <a:ext cx="1046988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C36B"/>
                </a:solidFill>
                <a:latin typeface="Malgun Gothic"/>
              </a:rPr>
              <a:t>주의  |  AI 추론의 한계·폐쇄망 제약은 가설이며, 고객 환경과 기존 도구를 확인해 사실·예상을 구분합니다.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5216" y="246888"/>
            <a:ext cx="1078992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3.1–3.3  아이디어 · 문제 · 기존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F3F6FC"/>
                </a:solidFill>
                <a:latin typeface="Malgun Gothic"/>
              </a:rPr>
              <a:t>장애 정보가 계층별로 나뉘어 있어 분석을 수작업으로 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307592"/>
            <a:ext cx="11009376" cy="0"/>
          </a:xfrm>
          <a:prstGeom prst="line">
            <a:avLst/>
          </a:prstGeom>
          <a:ln w="127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5216" y="6501384"/>
            <a:ext cx="88696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8128" y="6483096"/>
            <a:ext cx="13716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>04</a:t>
            </a:r>
            <a:endParaRPr sz="900" b="0">
              <a:solidFill>
                <a:srgbClr val="AAB7CC"/>
              </a:solidFill>
              <a:latin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618488"/>
            <a:ext cx="3502152" cy="1938528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" y="1618488"/>
            <a:ext cx="50292" cy="1938528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1755648"/>
            <a:ext cx="3136392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3.1  아이디어 명칭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3136392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AAB7CC"/>
                </a:solidFill>
                <a:latin typeface="Malgun Gothic"/>
              </a:rPr>
              <a:t>M-Trace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AAB7CC"/>
                </a:solidFill>
                <a:latin typeface="Malgun Gothic"/>
              </a:rPr>
              <a:t>서비스 요청 흐름·장애 원인 추적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AAB7CC"/>
              </a:solidFill>
              <a:latin typeface="Malgun Gothic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AAB7CC"/>
                </a:solidFill>
                <a:latin typeface="Malgun Gothic"/>
              </a:rPr>
              <a:t>근거와 확인 절차를 한 화면에 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18488"/>
            <a:ext cx="3502152" cy="1938528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618488"/>
            <a:ext cx="50292" cy="1938528"/>
          </a:xfrm>
          <a:prstGeom prst="rect">
            <a:avLst/>
          </a:prstGeom>
          <a:solidFill>
            <a:srgbClr val="70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1755648"/>
            <a:ext cx="3136392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3.2  해결할 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94560"/>
            <a:ext cx="3136392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>Apache 5xx, Tomcat 스레드·커넥션 대기, APM 지연을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>서로 다른 로그·화면에서 찾아 맞춰야 함</a:t>
            </a:r>
          </a:p>
          <a:p>
            <a:pPr algn="l">
              <a:spcAft>
                <a:spcPts val="300"/>
              </a:spcAft>
            </a:pPr>
            <a:endParaRPr sz="1200" b="0">
              <a:solidFill>
                <a:srgbClr val="AAB7CC"/>
              </a:solidFill>
              <a:latin typeface="Malgun Gothic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>분석 시간·결론이 담당자 경험에 좌우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18488"/>
            <a:ext cx="3483864" cy="1938528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65008" y="1618488"/>
            <a:ext cx="50292" cy="1938528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1755648"/>
            <a:ext cx="3118104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3.3  기존 처리 방법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194560"/>
            <a:ext cx="3118104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>알림 확인 → WEB/WAS 로그 검색 → APM 추이 대조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>→ 변경 이력·담당자 확인</a:t>
            </a:r>
          </a:p>
          <a:p>
            <a:pPr algn="l">
              <a:spcAft>
                <a:spcPts val="300"/>
              </a:spcAft>
            </a:pPr>
            <a:endParaRPr sz="1200" b="0">
              <a:solidFill>
                <a:srgbClr val="AAB7CC"/>
              </a:solidFill>
              <a:latin typeface="Malgun Gothic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>분석 근거·절차가 사례별로 흩어짐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3895344"/>
            <a:ext cx="10927080" cy="1389888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096512"/>
            <a:ext cx="20116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42D6C1"/>
                </a:solidFill>
                <a:latin typeface="Malgun Gothic"/>
              </a:rPr>
              <a:t>고객·운영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050791"/>
            <a:ext cx="8412480" cy="777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F3F6FC"/>
                </a:solidFill>
                <a:latin typeface="Malgun Gothic"/>
              </a:rPr>
              <a:t>목표 고객: Apache·Tomcat·Scouter 등 미들웨어를 운영하는 고객과 기술지원 엔지니어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F3F6FC"/>
                </a:solidFill>
                <a:latin typeface="Malgun Gothic"/>
              </a:rPr>
              <a:t>기대 효과: 원인 후보를 빨리 좁히고, 담당자 간 진단 근거와 확인 절차를 공유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5216" y="246888"/>
            <a:ext cx="1078992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3.4–3.5  제안 방식 · 입력과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F3F6FC"/>
                </a:solidFill>
              </a:rPr>
              <a:t>동일 Trace ID로 WEB·WAS 로그를 요청 단위로 연결합니다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307592"/>
            <a:ext cx="11009376" cy="0"/>
          </a:xfrm>
          <a:prstGeom prst="line">
            <a:avLst/>
          </a:prstGeom>
          <a:ln w="127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5216" y="6501384"/>
            <a:ext cx="88696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8128" y="6483096"/>
            <a:ext cx="13716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>05</a:t>
            </a:r>
            <a:endParaRPr sz="900" b="0">
              <a:solidFill>
                <a:srgbClr val="AAB7CC"/>
              </a:solidFill>
              <a:latin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746504"/>
            <a:ext cx="2450592" cy="1856231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" y="1746504"/>
            <a:ext cx="50292" cy="1856231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" y="1956816"/>
            <a:ext cx="211226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① 수집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2112264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Apache / Tomcat access·error 로그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WEB↔WAS 공통 Trace ID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선택 APM 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2414016"/>
            <a:ext cx="3108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42D6C1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746504"/>
            <a:ext cx="2450592" cy="1856231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10712" y="1746504"/>
            <a:ext cx="50292" cy="1856231"/>
          </a:xfrm>
          <a:prstGeom prst="rect">
            <a:avLst/>
          </a:prstGeom>
          <a:solidFill>
            <a:srgbClr val="70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75304" y="1956816"/>
            <a:ext cx="211226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② 정규화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5304" y="2450592"/>
            <a:ext cx="2112264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Trace ID · 호스트 · 서비스 정규화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양측 로그에서 동일 ID 매칭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시각은 요청 순서 확인에 활용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0448" y="2414016"/>
            <a:ext cx="3108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42D6C1"/>
                </a:solidFill>
                <a:latin typeface="Malgun Gothi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1" y="1746504"/>
            <a:ext cx="2450592" cy="1856231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9631" y="1746504"/>
            <a:ext cx="50292" cy="1856231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64223" y="1956816"/>
            <a:ext cx="211226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③ 분석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2450592"/>
            <a:ext cx="2112264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동일 ID로 WEB↔WAS 로그 역추적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요청 경로와 연결된 원문 확인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누락·불일치 ID는 별도 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7" y="2414016"/>
            <a:ext cx="3108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42D6C1"/>
                </a:solidFill>
                <a:latin typeface="Malgun Gothi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8551" y="1746504"/>
            <a:ext cx="2450592" cy="1856231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88551" y="1746504"/>
            <a:ext cx="50292" cy="1856231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53143" y="1956816"/>
            <a:ext cx="211226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④ 제시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2450592"/>
            <a:ext cx="2112264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요청별 통합 로그·흐름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연결된 WEB/WAS 근거와 출처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운영자 확인 절차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3904487"/>
            <a:ext cx="5321808" cy="1353312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0392" y="4096512"/>
            <a:ext cx="1298448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42D6C1"/>
                </a:solidFill>
                <a:latin typeface="Malgun Gothic"/>
              </a:rPr>
              <a:t>입력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0824" y="4050791"/>
            <a:ext cx="3666744" cy="8412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Apache/Tomcat access·error 로그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WEB/WAS에 기록된 공통 Trace ID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선택 APM 지표·트랜잭션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904487"/>
            <a:ext cx="5349240" cy="1353312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28232" y="4096512"/>
            <a:ext cx="1298448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70A9FF"/>
                </a:solidFill>
                <a:latin typeface="Malgun Gothic"/>
              </a:rPr>
              <a:t>출력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98664" y="4050791"/>
            <a:ext cx="3657600" cy="8412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Trace ID별 요청 흐름과 연결 로그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인스턴스·원문 근거·출처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AAB7CC"/>
                </a:solidFill>
                <a:latin typeface="Malgun Gothic"/>
              </a:rPr>
              <a:t>확인할 누락·불일치 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614416"/>
            <a:ext cx="107899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>
                <a:solidFill>
                  <a:srgbClr val="AAB7CC"/>
                </a:solidFill>
                <a:latin typeface="Malgun Gothic"/>
              </a:rPr>
              <a:t>핵심 연결 기준은 동일 Trace ID입니다. 시각은 흐름 확인용이며, 시간 근접성만으로 인과를 단정하지 않습니다.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5216" y="246888"/>
            <a:ext cx="1078992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3.6–3.7  차별점 · 필요한 구현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F3F6FC"/>
                </a:solidFill>
                <a:latin typeface="Malgun Gothic"/>
              </a:rPr>
              <a:t>AI 로그 분석을 대체하기보다, 운영 증거를 구조적으로 연결합니다.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307592"/>
            <a:ext cx="11009376" cy="0"/>
          </a:xfrm>
          <a:prstGeom prst="line">
            <a:avLst/>
          </a:prstGeom>
          <a:ln w="127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5216" y="6501384"/>
            <a:ext cx="88696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8128" y="6483096"/>
            <a:ext cx="13716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>06</a:t>
            </a:r>
            <a:endParaRPr sz="900" b="0">
              <a:solidFill>
                <a:srgbClr val="AAB7CC"/>
              </a:solidFill>
              <a:latin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673352"/>
            <a:ext cx="3511296" cy="1673352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" y="1673352"/>
            <a:ext cx="50292" cy="1673352"/>
          </a:xfrm>
          <a:prstGeom prst="rect">
            <a:avLst/>
          </a:prstGeom>
          <a:solidFill>
            <a:srgbClr val="70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1810512"/>
            <a:ext cx="3145536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일괄 로그 분석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249424"/>
            <a:ext cx="3145536" cy="9692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>사용자가 로그 묶음을 입력하면
요약·원인 후보를 빠르게 제시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73352"/>
            <a:ext cx="3511296" cy="1673352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673352"/>
            <a:ext cx="50292" cy="1673352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1810512"/>
            <a:ext cx="3145536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M-Trace의 제안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49424"/>
            <a:ext cx="3145536" cy="9692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>운영 데이터를 수집·정규화·연결해
반복 가능한 제품 흐름으로 구성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73352"/>
            <a:ext cx="3483864" cy="1673352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65008" y="1673352"/>
            <a:ext cx="50292" cy="1673352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1810512"/>
            <a:ext cx="3118104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3F6FC"/>
                </a:solidFill>
                <a:latin typeface="Malgun Gothic"/>
              </a:rPr>
              <a:t>핵심 차이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249424"/>
            <a:ext cx="3118104" cy="9692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>계층 간 증거와 출처를 추적
AI는 선택적 설명 보조로 활용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AAB7CC"/>
                </a:solidFill>
                <a:latin typeface="Malgun Gothic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3621024"/>
            <a:ext cx="10927080" cy="1645920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3822191"/>
            <a:ext cx="219456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42D6C1"/>
                </a:solidFill>
                <a:latin typeface="Malgun Gothic"/>
              </a:rPr>
              <a:t>제안 기술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8339327" cy="1143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3F6FC"/>
                </a:solidFill>
                <a:latin typeface="Malgun Gothic"/>
              </a:rPr>
              <a:t>Java 17+ · Spring Boot · JMX · Fluent Bit · PostgreSQL
Scouter Collector Plugin API (설치 버전·연계 조건 확인 필요)
규칙 기반 상관분석을 핵심으로 하고, LLM은 선택적 설명 기능으로 분리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3F6FC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3F6FC"/>
                </a:solidFill>
                <a:latin typeface="Malgun Gothic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5586984"/>
            <a:ext cx="106984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수집기는 읽기 전용·사내망 우선. 원문 로그 마스킹·보존 기준을 적용하고, LLM 외부 전송은 기본 비활성화.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5216" y="246888"/>
            <a:ext cx="1078992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3.7  시스템 구성 · 데이터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300" b="1">
                <a:solidFill>
                  <a:srgbClr val="F3F6FC"/>
                </a:solidFill>
                <a:latin typeface="Malgun Gothic"/>
              </a:rPr>
              <a:t>운영 서버에는 단일 Agent, M-Trace는 수집·분석·표출을 담당합니다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307592"/>
            <a:ext cx="11009376" cy="0"/>
          </a:xfrm>
          <a:prstGeom prst="line">
            <a:avLst/>
          </a:prstGeom>
          <a:ln w="127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5216" y="6501384"/>
            <a:ext cx="88696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8128" y="6483096"/>
            <a:ext cx="13716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>07</a:t>
            </a:r>
            <a:endParaRPr sz="900" b="0">
              <a:solidFill>
                <a:srgbClr val="AAB7CC"/>
              </a:solidFill>
              <a:latin typeface="Malgun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1508760"/>
            <a:ext cx="566928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2D6C1"/>
                </a:solidFill>
                <a:latin typeface="Malgun Gothic"/>
              </a:rPr>
              <a:t>고객사 운영 환경  ·  고객 데이터센터 / 사내망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6096" y="1508760"/>
            <a:ext cx="388620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2D6C1"/>
                </a:solidFill>
                <a:latin typeface="Malgun Gothic"/>
              </a:rPr>
              <a:t>M-Trace 서버  ·  사내망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65960"/>
            <a:ext cx="5010912" cy="804672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020824"/>
            <a:ext cx="50292" cy="694944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07107"/>
            <a:ext cx="4718304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F3F6FC"/>
                </a:solidFill>
                <a:latin typeface="Malgun Gothic"/>
              </a:rPr>
              <a:t>WEB 서버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67712"/>
            <a:ext cx="4718304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AAB7CC"/>
                </a:solidFill>
                <a:latin typeface="Malgun Gothic"/>
              </a:rPr>
              <a:t>Apache 로그  ·  M-Trace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926080"/>
            <a:ext cx="5010912" cy="804672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2980944"/>
            <a:ext cx="50292" cy="694944"/>
          </a:xfrm>
          <a:prstGeom prst="rect">
            <a:avLst/>
          </a:prstGeom>
          <a:solidFill>
            <a:srgbClr val="70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67228"/>
            <a:ext cx="4718304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F3F6FC"/>
                </a:solidFill>
                <a:latin typeface="Malgun Gothic"/>
              </a:rPr>
              <a:t>WAS 서버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27832"/>
            <a:ext cx="4718304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AAB7CC"/>
                </a:solidFill>
                <a:latin typeface="Malgun Gothic"/>
              </a:rPr>
              <a:t>Tomcat 로그 + JVM 지표  ·  동일 M-Trace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886200"/>
            <a:ext cx="5010912" cy="804672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3941063"/>
            <a:ext cx="50292" cy="694944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27348"/>
            <a:ext cx="4718304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F3F6FC"/>
                </a:solidFill>
                <a:latin typeface="Malgun Gothic"/>
              </a:rPr>
              <a:t>기존 APM  ·  선택 연계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187952"/>
            <a:ext cx="4718304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AAB7CC"/>
                </a:solidFill>
                <a:latin typeface="Malgun Gothic"/>
              </a:rPr>
              <a:t>Scouter 또는 타 APM 데이터  ·  제품 API/연계 방식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3872" y="2103120"/>
            <a:ext cx="1691640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AAB7CC"/>
                </a:solidFill>
                <a:latin typeface="Malgun Gothic"/>
              </a:rPr>
              <a:t>Agent 데이터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53328" y="2340864"/>
            <a:ext cx="1298448" cy="155448"/>
          </a:xfrm>
          <a:prstGeom prst="rightArrow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33872" y="3054096"/>
            <a:ext cx="1691640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AAB7CC"/>
                </a:solidFill>
                <a:latin typeface="Malgun Gothic"/>
              </a:rPr>
              <a:t>Agent 데이터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053328" y="3291840"/>
            <a:ext cx="1298448" cy="155448"/>
          </a:xfrm>
          <a:prstGeom prst="rightArrow">
            <a:avLst/>
          </a:prstGeom>
          <a:solidFill>
            <a:srgbClr val="70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3872" y="4014215"/>
            <a:ext cx="1691640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AAB7CC"/>
                </a:solidFill>
                <a:latin typeface="Malgun Gothic"/>
              </a:rPr>
              <a:t>APM 연계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53328" y="4251960"/>
            <a:ext cx="1298448" cy="155448"/>
          </a:xfrm>
          <a:prstGeom prst="rightArrow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26096" y="1847088"/>
            <a:ext cx="3931920" cy="3840480"/>
          </a:xfrm>
          <a:prstGeom prst="roundRect">
            <a:avLst/>
          </a:prstGeom>
          <a:solidFill>
            <a:srgbClr val="192640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882127" y="2057400"/>
            <a:ext cx="3419856" cy="841248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82127" y="2112264"/>
            <a:ext cx="50292" cy="731520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7575" y="2098548"/>
            <a:ext cx="3127248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F3F6FC"/>
                </a:solidFill>
                <a:latin typeface="Malgun Gothic"/>
              </a:rPr>
              <a:t>Agent Gateway  ·  TCP/TLS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37575" y="2359152"/>
            <a:ext cx="3127248" cy="51206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AAB7CC"/>
                </a:solidFill>
                <a:latin typeface="Malgun Gothic"/>
              </a:rPr>
              <a:t>Agent for Fluent Bit/JMX
WEB/WAS Agent 수집·인증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82127" y="3136392"/>
            <a:ext cx="3419856" cy="749808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82127" y="3191256"/>
            <a:ext cx="50292" cy="640080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7575" y="3177540"/>
            <a:ext cx="3127248" cy="2560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F3F6FC"/>
                </a:solidFill>
                <a:latin typeface="Malgun Gothic"/>
              </a:rPr>
              <a:t>APM 연계 API  ·  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7575" y="3438144"/>
            <a:ext cx="3127248" cy="420623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AAB7CC"/>
                </a:solidFill>
                <a:latin typeface="Malgun Gothic"/>
              </a:rPr>
              <a:t>Scouter / 고객 APM 커넥터
별도 APM Agent 설치를 강제하지 않음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82127" y="4096512"/>
            <a:ext cx="3419856" cy="557784"/>
          </a:xfrm>
          <a:prstGeom prst="roundRect">
            <a:avLst/>
          </a:prstGeom>
          <a:solidFill>
            <a:srgbClr val="131D32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1000" y="4142232"/>
            <a:ext cx="3182112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3F6FC"/>
                </a:solidFill>
                <a:latin typeface="Malgun Gothic"/>
              </a:rPr>
              <a:t>정규화 · 공통 이벤트 모델
상관분석 · 후보 근거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82127" y="4800600"/>
            <a:ext cx="1536192" cy="548640"/>
          </a:xfrm>
          <a:prstGeom prst="roundRect">
            <a:avLst/>
          </a:prstGeom>
          <a:solidFill>
            <a:srgbClr val="131D32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846320"/>
            <a:ext cx="1389888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AAB7CC"/>
                </a:solidFill>
                <a:latin typeface="Malgun Gothic"/>
              </a:rPr>
              <a:t>PostgreSQL
이벤트·근거 저장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82912" y="4800600"/>
            <a:ext cx="1719072" cy="548640"/>
          </a:xfrm>
          <a:prstGeom prst="roundRect">
            <a:avLst/>
          </a:prstGeom>
          <a:solidFill>
            <a:srgbClr val="131D32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56064" y="4846320"/>
            <a:ext cx="1572768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F3F6FC"/>
                </a:solidFill>
                <a:latin typeface="Malgun Gothic"/>
              </a:rPr>
              <a:t>Spring Boot Web
분석·표출 화면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9872" y="5779008"/>
            <a:ext cx="340156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3F6FC"/>
                </a:solidFill>
                <a:latin typeface="Malgun Gothic"/>
              </a:rPr>
              <a:t>운영자 웹브라우저  →  분석 화면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641848"/>
            <a:ext cx="717804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C36B"/>
                </a:solidFill>
              </a:rPr>
              <a:t>Trace ID 연결 (고객별 설정/코드 수정 필요)</a:t>
            </a:r>
          </a:p>
          <a:p>
            <a:r>
              <a:rPr sz="819" b="1">
                <a:solidFill>
                  <a:srgbClr val="FFC36B"/>
                </a:solidFill>
              </a:rPr>
              <a:t>① WEB 발급 → 요청 헤더로 WAS 전달, 양측 로그 기록</a:t>
            </a:r>
          </a:p>
          <a:p>
            <a:r>
              <a:rPr sz="819" b="1">
                <a:solidFill>
                  <a:srgbClr val="FFC36B"/>
                </a:solidFill>
              </a:rPr>
              <a:t>② WAS 발급 → 응답 헤더로 WEB 전달, 양측 로그 기록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5216" y="246888"/>
            <a:ext cx="1078992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3.8  예상 개발 범위 · 기술적 난제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F3F6FC"/>
                </a:solidFill>
              </a:rPr>
              <a:t>동일 Trace ID를 키로 요청 경로를 역추적합니다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307592"/>
            <a:ext cx="11009376" cy="0"/>
          </a:xfrm>
          <a:prstGeom prst="line">
            <a:avLst/>
          </a:prstGeom>
          <a:ln w="127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5216" y="6501384"/>
            <a:ext cx="88696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8128" y="6483096"/>
            <a:ext cx="13716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>08</a:t>
            </a:r>
            <a:endParaRPr sz="900" b="0">
              <a:solidFill>
                <a:srgbClr val="AAB7CC"/>
              </a:solidFill>
              <a:latin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673352"/>
            <a:ext cx="2459736" cy="1344168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847088"/>
            <a:ext cx="212140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① 수집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03120"/>
            <a:ext cx="212140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3F6FC"/>
                </a:solidFill>
                <a:latin typeface="Malgun Gothic"/>
              </a:rPr>
              <a:t>표준 어댑터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68880"/>
            <a:ext cx="2121408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Apache/Tomcat access·error 로그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WEB/WAS Trace ID 기록</a:t>
            </a:r>
          </a:p>
          <a:p>
            <a:r>
              <a:rPr sz="900" b="0">
                <a:solidFill>
                  <a:srgbClr val="AAB7CC"/>
                </a:solidFill>
                <a:latin typeface="Malgun Gothic"/>
              </a:rPr>
              <a:t>선택 APM 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112264"/>
            <a:ext cx="2743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70A9FF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673352"/>
            <a:ext cx="2459736" cy="1344168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57016" y="1847088"/>
            <a:ext cx="212140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② 정규화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2103120"/>
            <a:ext cx="212140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3F6FC"/>
                </a:solidFill>
                <a:latin typeface="Malgun Gothic"/>
              </a:rPr>
              <a:t>공통 이벤트 모델</a:t>
            </a:r>
          </a:p>
          <a:p/>
          <a:p/>
        </p:txBody>
      </p:sp>
      <p:sp>
        <p:nvSpPr>
          <p:cNvPr id="15" name="TextBox 14"/>
          <p:cNvSpPr txBox="1"/>
          <p:nvPr/>
        </p:nvSpPr>
        <p:spPr>
          <a:xfrm>
            <a:off x="3557016" y="2468880"/>
            <a:ext cx="2121408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69" b="0">
                <a:solidFill>
                  <a:srgbClr val="AAB7CC"/>
                </a:solidFill>
                <a:latin typeface="Malgun Gothic"/>
              </a:rPr>
              <a:t>Trace ID · 호스트 · 서비스 정규화</a:t>
            </a:r>
          </a:p>
          <a:p>
            <a:pPr algn="l">
              <a:spcAft>
                <a:spcPts val="300"/>
              </a:spcAft>
            </a:pPr>
            <a:r>
              <a:rPr sz="869" b="0">
                <a:solidFill>
                  <a:srgbClr val="AAB7CC"/>
                </a:solidFill>
                <a:latin typeface="Malgun Gothic"/>
              </a:rPr>
              <a:t>동일 ID로 양측 로그 매칭</a:t>
            </a:r>
          </a:p>
          <a:p>
            <a:r>
              <a:rPr sz="869" b="0">
                <a:solidFill>
                  <a:srgbClr val="AAB7CC"/>
                </a:solidFill>
                <a:latin typeface="Malgun Gothic"/>
              </a:rPr>
              <a:t>시각은 순서 확인용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9592" y="2112264"/>
            <a:ext cx="2743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70A9FF"/>
                </a:solidFill>
                <a:latin typeface="Malgun Gothi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1" y="1673352"/>
            <a:ext cx="2459736" cy="1344168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5936" y="1847088"/>
            <a:ext cx="212140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③ 상관분석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03120"/>
            <a:ext cx="212140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3F6FC"/>
                </a:solidFill>
                <a:latin typeface="Malgun Gothic"/>
              </a:rPr>
              <a:t>Trace ID 조회·역추적</a:t>
            </a:r>
          </a:p>
          <a:p/>
          <a:p/>
        </p:txBody>
      </p:sp>
      <p:sp>
        <p:nvSpPr>
          <p:cNvPr id="20" name="TextBox 19"/>
          <p:cNvSpPr txBox="1"/>
          <p:nvPr/>
        </p:nvSpPr>
        <p:spPr>
          <a:xfrm>
            <a:off x="6345936" y="2468880"/>
            <a:ext cx="2121408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69" b="0">
                <a:solidFill>
                  <a:srgbClr val="AAB7CC"/>
                </a:solidFill>
                <a:latin typeface="Malgun Gothic"/>
              </a:rPr>
              <a:t>동일 ID의 WEB/WAS 로그 매칭</a:t>
            </a:r>
          </a:p>
          <a:p>
            <a:pPr algn="l">
              <a:spcAft>
                <a:spcPts val="300"/>
              </a:spcAft>
            </a:pPr>
            <a:r>
              <a:rPr sz="869" b="0">
                <a:solidFill>
                  <a:srgbClr val="AAB7CC"/>
                </a:solidFill>
                <a:latin typeface="Malgun Gothic"/>
              </a:rPr>
              <a:t>요청 경로 재구성</a:t>
            </a:r>
          </a:p>
          <a:p>
            <a:r>
              <a:rPr sz="869" b="0">
                <a:solidFill>
                  <a:srgbClr val="AAB7CC"/>
                </a:solidFill>
                <a:latin typeface="Malgun Gothic"/>
              </a:rPr>
              <a:t>원본 로그 근거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2" y="2112264"/>
            <a:ext cx="2743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70A9FF"/>
                </a:solidFill>
                <a:latin typeface="Malgun Gothi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8551" y="1673352"/>
            <a:ext cx="2459736" cy="1344168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4855" y="1847088"/>
            <a:ext cx="212140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④ 근거 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5" y="2103120"/>
            <a:ext cx="212140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3F6FC"/>
                </a:solidFill>
                <a:latin typeface="Malgun Gothic"/>
              </a:rPr>
              <a:t>운영자 확인</a:t>
            </a:r>
          </a:p>
          <a:p/>
          <a:p/>
        </p:txBody>
      </p:sp>
      <p:sp>
        <p:nvSpPr>
          <p:cNvPr id="25" name="TextBox 24"/>
          <p:cNvSpPr txBox="1"/>
          <p:nvPr/>
        </p:nvSpPr>
        <p:spPr>
          <a:xfrm>
            <a:off x="9134855" y="2468880"/>
            <a:ext cx="2121408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69" b="0">
                <a:solidFill>
                  <a:srgbClr val="AAB7CC"/>
                </a:solidFill>
                <a:latin typeface="Malgun Gothic"/>
              </a:rPr>
              <a:t>연결 로그와 인스턴스 근거</a:t>
            </a:r>
          </a:p>
          <a:p>
            <a:pPr algn="l">
              <a:spcAft>
                <a:spcPts val="300"/>
              </a:spcAft>
            </a:pPr>
            <a:r>
              <a:rPr sz="869" b="0">
                <a:solidFill>
                  <a:srgbClr val="AAB7CC"/>
                </a:solidFill>
                <a:latin typeface="Malgun Gothic"/>
              </a:rPr>
              <a:t>ID 누락·불일치 표시</a:t>
            </a:r>
          </a:p>
          <a:p>
            <a:r>
              <a:rPr sz="869" b="0">
                <a:solidFill>
                  <a:srgbClr val="AAB7CC"/>
                </a:solidFill>
                <a:latin typeface="Malgun Gothic"/>
              </a:rPr>
              <a:t>검토 절차 안내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3310128"/>
            <a:ext cx="5285232" cy="1636776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3502152"/>
            <a:ext cx="4754880" cy="301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42D6C1"/>
                </a:solidFill>
                <a:latin typeface="Malgun Gothic"/>
              </a:rPr>
              <a:t>AI 일괄 분석과의 차이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950208"/>
            <a:ext cx="4617720" cy="8321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3F6FC"/>
                </a:solidFill>
                <a:latin typeface="Malgun Gothic"/>
              </a:rPr>
              <a:t>범용 AI: 제공된 로그 묶음을 요약하고 원인 후보를 제시.
M-Trace: 운영 데이터 수집·정규화·계층 간 연결과 근거 이력을 제품 흐름으로 구성.
AI는 배제하지 않고 선택적 설명 보조로 활용.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3F6FC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3F6FC"/>
                </a:solidFill>
                <a:latin typeface="Malgun Gothic"/>
              </a:rPr>
              <a:t/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310128"/>
            <a:ext cx="5349240" cy="1636776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37376" y="3502152"/>
            <a:ext cx="4800600" cy="301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C36B"/>
                </a:solidFill>
                <a:latin typeface="Malgun Gothic"/>
              </a:rPr>
              <a:t>기술 설계의 난제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950208"/>
            <a:ext cx="4617720" cy="8321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>
                <a:solidFill>
                  <a:srgbClr val="F3F6FC"/>
                </a:solidFill>
                <a:latin typeface="Malgun Gothic"/>
              </a:rPr>
              <a:t>• 고객별 ID 발급·헤더 전달·로그 기록 설정</a:t>
            </a:r>
          </a:p>
          <a:p>
            <a:pPr algn="l">
              <a:spcAft>
                <a:spcPts val="300"/>
              </a:spcAft>
            </a:pPr>
            <a:r>
              <a:rPr sz="930" b="0">
                <a:solidFill>
                  <a:srgbClr val="F3F6FC"/>
                </a:solidFill>
                <a:latin typeface="Malgun Gothic"/>
              </a:rPr>
              <a:t>• ID 누락·재발급·다중 홉 전달 예외</a:t>
            </a:r>
          </a:p>
          <a:p>
            <a:pPr algn="l">
              <a:spcAft>
                <a:spcPts val="300"/>
              </a:spcAft>
            </a:pPr>
            <a:r>
              <a:rPr sz="930" b="0">
                <a:solidFill>
                  <a:srgbClr val="F3F6FC"/>
                </a:solidFill>
                <a:latin typeface="Malgun Gothic"/>
              </a:rPr>
              <a:t>• 기존 APM의 ID 연계 범위</a:t>
            </a:r>
          </a:p>
          <a:p>
            <a:r>
              <a:rPr sz="930" b="0">
                <a:solidFill>
                  <a:srgbClr val="F3F6FC"/>
                </a:solidFill>
                <a:latin typeface="Malgun Gothic"/>
              </a:rPr>
              <a:t>• 민감정보 마스킹·보존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" y="5266944"/>
            <a:ext cx="1088136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69" b="0">
                <a:solidFill>
                  <a:srgbClr val="AAB7CC"/>
                </a:solidFill>
                <a:latin typeface="Malgun Gothic"/>
              </a:rPr>
              <a:t>핵심: 동일 Trace ID를 WEB·WAS 로그의 조인 키로 요청 단위 역추적. ID 발급·전파·기록은 고객별 설정/코드 수정이 필요하며, 시각은 순서 확인용입니다.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5715000"/>
            <a:ext cx="107899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70A9FF"/>
                </a:solidFill>
                <a:latin typeface="Malgun Gothic"/>
              </a:rPr>
              <a:t>개발 기간은 대상 환경·연계 범위·처리 방식 정의 후 산정합니다.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6016752"/>
            <a:ext cx="10789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기술 설명 자료: 데이터 모델 · 판단 규칙 · 예외 처리 · 자체 개발과 외부 기술 구분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5216" y="246888"/>
            <a:ext cx="10789920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4. 후보별 기술 구성과 차별점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3F6FC"/>
                </a:solidFill>
                <a:latin typeface="Malgun Gothic"/>
              </a:rPr>
              <a:t>사용자부터 결과까지, M-Trace 구성요소를 구체화합니다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307592"/>
            <a:ext cx="11009376" cy="0"/>
          </a:xfrm>
          <a:prstGeom prst="line">
            <a:avLst/>
          </a:prstGeom>
          <a:ln w="127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5216" y="6501384"/>
            <a:ext cx="896112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483096"/>
            <a:ext cx="2130552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>09</a:t>
            </a:r>
            <a:r>
              <a:rPr lang="ko-KR" altLang="en-US" sz="900" b="0">
                <a:solidFill>
                  <a:srgbClr val="AAB7CC"/>
                </a:solidFill>
                <a:latin typeface="Malgun Gothic"/>
              </a:rPr>
              <a:t/>
            </a: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/>
            </a:r>
            <a:r>
              <a:rPr lang="ko-KR" altLang="en-US" sz="900" b="0">
                <a:solidFill>
                  <a:srgbClr val="AAB7CC"/>
                </a:solidFill>
                <a:latin typeface="Malgun Gothic"/>
              </a:rPr>
              <a:t/>
            </a:r>
            <a:endParaRPr sz="900" b="0">
              <a:solidFill>
                <a:srgbClr val="AAB7CC"/>
              </a:solidFill>
              <a:latin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773936"/>
            <a:ext cx="2331720" cy="232257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" y="1773936"/>
            <a:ext cx="50292" cy="2322576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984248"/>
            <a:ext cx="20574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3F6FC"/>
                </a:solidFill>
                <a:latin typeface="Malgun Gothic"/>
              </a:rPr>
              <a:t>데이터 원천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496312"/>
            <a:ext cx="2057400" cy="1344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사용자 / 기술지원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Apache access·error·status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Tomcat JULI·access·JMX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Scouter APM·XLog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773936"/>
            <a:ext cx="2331720" cy="232257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02152" y="1773936"/>
            <a:ext cx="50292" cy="2322576"/>
          </a:xfrm>
          <a:prstGeom prst="rect">
            <a:avLst/>
          </a:prstGeom>
          <a:solidFill>
            <a:srgbClr val="70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9312" y="1984248"/>
            <a:ext cx="20574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3F6FC"/>
                </a:solidFill>
                <a:latin typeface="Malgun Gothic"/>
              </a:rPr>
              <a:t>읽기 전용 수집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496312"/>
            <a:ext cx="2057400" cy="1344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Fluent Bit: 로그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Java JMX reader: WAS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Scouter Collector Plugin 검토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배포·설정 변경 시각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2512" y="1773936"/>
            <a:ext cx="2331720" cy="232257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82512" y="1773936"/>
            <a:ext cx="50292" cy="2322576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1984248"/>
            <a:ext cx="20574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3F6FC"/>
                </a:solidFill>
                <a:latin typeface="Malgun Gothic"/>
              </a:rPr>
              <a:t>정규화·상관분석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496312"/>
            <a:ext cx="2057400" cy="1344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시간대·호스트·서비스 키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시간창 내 WEB/WAS/APM 비교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규칙·임계치·사례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후보별 증거 보존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62872" y="1773936"/>
            <a:ext cx="2286000" cy="232257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262872" y="1773936"/>
            <a:ext cx="50292" cy="2322576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00032" y="1984248"/>
            <a:ext cx="201168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3F6FC"/>
                </a:solidFill>
                <a:latin typeface="Malgun Gothic"/>
              </a:rPr>
              <a:t>결과·저장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496312"/>
            <a:ext cx="2011680" cy="1344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장애 타임라인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원인 후보·근거·신뢰도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확인·복구 체크리스트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PostgreSQL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3512" y="2688336"/>
            <a:ext cx="347472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2D6C1"/>
                </a:solidFill>
                <a:latin typeface="Malgun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2" y="2688336"/>
            <a:ext cx="347472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2D6C1"/>
                </a:solidFill>
                <a:latin typeface="Malgun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4232" y="2688336"/>
            <a:ext cx="347472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2D6C1"/>
                </a:solidFill>
                <a:latin typeface="Malgun Gothic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4352544"/>
            <a:ext cx="5303520" cy="1335024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" y="4535424"/>
            <a:ext cx="4809744" cy="265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2D6C1"/>
                </a:solidFill>
                <a:latin typeface="Malgun Gothic"/>
              </a:rPr>
              <a:t>4.1 구성 경계·외부 기술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4919472"/>
            <a:ext cx="4736592" cy="6126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3F6FC"/>
                </a:solidFill>
                <a:latin typeface="Malgun Gothic"/>
              </a:rPr>
              <a:t>제안 기술: Java 17+ · Spring Boot · JMX · Fluent Bit · PostgreSQL.
Apache/Tomcat/Scouter는 관측 원천; 연계 API·권한은 환경별 확인.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3F6FC"/>
                </a:solidFill>
                <a:latin typeface="Malgun Gothic"/>
              </a:rPr>
              <a:t/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4352544"/>
            <a:ext cx="5358384" cy="1335024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4535424"/>
            <a:ext cx="4864608" cy="265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0A9FF"/>
                </a:solidFill>
                <a:latin typeface="Malgun Gothic"/>
              </a:rPr>
              <a:t>4.2 입력 → 처리 →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919472"/>
            <a:ext cx="4800600" cy="6126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3F6FC"/>
                </a:solidFill>
                <a:latin typeface="Malgun Gothic"/>
              </a:rPr>
              <a:t>로그·지표·변경 시각 → 마스킹·파싱·시간 정규화 → 시간창·서비스 키로 상관분석 → 근거와 다음 확인 절차 제시.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843016"/>
            <a:ext cx="108813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Scouter 플러그인은 대상 버전/API·전달 경로·수집 권한·운영 부하 검토가 필요합니다.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5216" y="246888"/>
            <a:ext cx="10789920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4. 후보별 기술 구성과 차별점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3F6FC"/>
                </a:solidFill>
                <a:latin typeface="Malgun Gothic"/>
              </a:rPr>
              <a:t>근거와 예외 처리를 설명 가능한 기술 구성으로 설계합니다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307592"/>
            <a:ext cx="11009376" cy="0"/>
          </a:xfrm>
          <a:prstGeom prst="line">
            <a:avLst/>
          </a:prstGeom>
          <a:ln w="12700">
            <a:solidFill>
              <a:srgbClr val="293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5216" y="6501384"/>
            <a:ext cx="896112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483096"/>
            <a:ext cx="2130552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>10</a:t>
            </a:r>
            <a:r>
              <a:rPr lang="ko-KR" altLang="en-US" sz="900" b="0">
                <a:solidFill>
                  <a:srgbClr val="AAB7CC"/>
                </a:solidFill>
                <a:latin typeface="Malgun Gothic"/>
              </a:rPr>
              <a:t/>
            </a:r>
            <a:r>
              <a:rPr lang="en-US" altLang="ko-KR" sz="900" b="0">
                <a:solidFill>
                  <a:srgbClr val="AAB7CC"/>
                </a:solidFill>
                <a:latin typeface="Malgun Gothic"/>
              </a:rPr>
              <a:t/>
            </a:r>
            <a:r>
              <a:rPr lang="ko-KR" altLang="en-US" sz="900" b="0">
                <a:solidFill>
                  <a:srgbClr val="AAB7CC"/>
                </a:solidFill>
                <a:latin typeface="Malgun Gothic"/>
              </a:rPr>
              <a:t/>
            </a:r>
            <a:endParaRPr sz="900" b="0">
              <a:solidFill>
                <a:srgbClr val="AAB7CC"/>
              </a:solidFill>
              <a:latin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627632"/>
            <a:ext cx="5285232" cy="1335024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" y="1627632"/>
            <a:ext cx="50292" cy="1335024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" y="1764792"/>
            <a:ext cx="4114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4.3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746504"/>
            <a:ext cx="4572000" cy="3017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핵심 판단·예외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157984"/>
            <a:ext cx="495604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오류율·대기·지연 신호를 동일 시간창으로 대조.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서비스·호스트 매핑 불일치, 시간대 차이, 데이터 부족은 표시하고 진단 확신도를 낮춤.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627632"/>
            <a:ext cx="5349240" cy="1335024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627632"/>
            <a:ext cx="50292" cy="1335024"/>
          </a:xfrm>
          <a:prstGeom prst="rect">
            <a:avLst/>
          </a:prstGeom>
          <a:solidFill>
            <a:srgbClr val="70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45936" y="1764792"/>
            <a:ext cx="4114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0A9FF"/>
                </a:solidFill>
                <a:latin typeface="Malgun Gothic"/>
              </a:rPr>
              <a:t>4.4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1746504"/>
            <a:ext cx="4636007" cy="3017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실패·재처리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157984"/>
            <a:ext cx="5020055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수집 지점·시간·오류를 기록. 일시 오류는 제한 재시도, 중복은 시각/식별자로 제거.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누락은 운영자가 보완 후 해당 구간만 재분석.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3191256"/>
            <a:ext cx="5285232" cy="1335024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" y="3191256"/>
            <a:ext cx="50292" cy="1335024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3328416"/>
            <a:ext cx="74980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C36B"/>
                </a:solidFill>
                <a:latin typeface="Malgun Gothic"/>
              </a:rPr>
              <a:t>4.5–4.6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10128"/>
            <a:ext cx="4251960" cy="3017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차별점과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721608"/>
            <a:ext cx="495604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단순 로그 요약을 넘어 WEB/WAS/APM 관측과 변경 시점을 연결하고 후보별 근거 출처를 추적.
기술 차별점은 연결 키·시간창·후보 산출·근거 관리의 구체적 처리 절차에 둠.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191256"/>
            <a:ext cx="5349240" cy="1335024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99632" y="3191256"/>
            <a:ext cx="50292" cy="1335024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45936" y="3328416"/>
            <a:ext cx="4114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8272" y="3310128"/>
            <a:ext cx="4636007" cy="3017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자체 개발과 외부 기술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3721608"/>
            <a:ext cx="5020055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자체: 공통 스키마·어댑터·상관분석·근거 표시.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AB7CC"/>
                </a:solidFill>
                <a:latin typeface="Malgun Gothic"/>
              </a:rPr>
              <a:t>활용: Apache/Tomcat/Scouter 관측 인터페이스, JMX·Fluent Bit·DB. LLM은 선택적이며 자동조치 안 함.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4764024"/>
            <a:ext cx="10927080" cy="1060704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" y="4946904"/>
            <a:ext cx="2295144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C36B"/>
                </a:solidFill>
                <a:latin typeface="Malgun Gothic"/>
              </a:rPr>
              <a:t>4.8  기술 설명 구체화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4901184"/>
            <a:ext cx="8366760" cy="6766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3F6FC"/>
                </a:solidFill>
                <a:latin typeface="Malgun Gothic"/>
              </a:rPr>
              <a:t>기술 상담 자료에 연결 기준(호스트·서비스·요청 경로·시간창), 신호별 후보 산출 규칙, 데이터 누락·상충 시 신뢰도 처리, 근거의 원천·출력 형태를 명시.
이는 기술 구성 설명을 위한 설계 항목이며, 신규성·출원 가능성 판단은 변리사 검토 대상.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3F6FC"/>
                </a:solidFill>
                <a:latin typeface="Malgun Gothic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943600"/>
            <a:ext cx="1078992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상세화할 사항: 입력 필드·데이터 흐름·판단 조건·예외 처리·기존 기술 대비 차이.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246888"/>
            <a:ext cx="10789920" cy="2468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2D6C1"/>
                </a:solidFill>
                <a:latin typeface="Malgun Gothic"/>
              </a:rPr>
              <a:t>M-Trace  ·  예상 질문과 검증 과제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594360"/>
            <a:ext cx="10972800" cy="5486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3F6FC"/>
                </a:solidFill>
                <a:latin typeface="Malgun Gothic"/>
              </a:rPr>
              <a:t>M-Trace가 답해야 할 9가지 챌린지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11009376" cy="10972"/>
          </a:xfrm>
          <a:prstGeom prst="rect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" y="1536192"/>
            <a:ext cx="3456432" cy="11338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600200"/>
            <a:ext cx="50292" cy="1005840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163824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01  데이터 규모·보존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9384"/>
            <a:ext cx="3163824" cy="6217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AAB7CC"/>
                </a:solidFill>
                <a:latin typeface="Malgun Gothic"/>
              </a:rPr>
              <a:t>트랜잭션 수집 범위와 보존 기간, 저장·검색 비용은?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536192"/>
            <a:ext cx="3456432" cy="11338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600200"/>
            <a:ext cx="50292" cy="1005840"/>
          </a:xfrm>
          <a:prstGeom prst="rect">
            <a:avLst/>
          </a:prstGeom>
          <a:solidFill>
            <a:srgbClr val="70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600200"/>
            <a:ext cx="3163824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02  기존 APM과 차별점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29384"/>
            <a:ext cx="3163824" cy="6217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AAB7CC"/>
                </a:solidFill>
                <a:latin typeface="Malgun Gothic"/>
              </a:rPr>
              <a:t>기존 추적 기능과 겹치는 점, M-Trace가 더하는 가치는?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536192"/>
            <a:ext cx="3456432" cy="11338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600200"/>
            <a:ext cx="50292" cy="1005840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600200"/>
            <a:ext cx="3163824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03  Trace ID 누락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929384"/>
            <a:ext cx="3163824" cy="6217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AAB7CC"/>
                </a:solidFill>
                <a:latin typeface="Malgun Gothic"/>
              </a:rPr>
              <a:t>전파 실패·누락·재발급 시 연결 결과를 어떻게 표시하나?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2816352"/>
            <a:ext cx="3456432" cy="11338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2880360"/>
            <a:ext cx="50292" cy="1005840"/>
          </a:xfrm>
          <a:prstGeom prst="rect">
            <a:avLst/>
          </a:prstGeom>
          <a:solidFill>
            <a:srgbClr val="70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80360"/>
            <a:ext cx="3163824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04  고객 환경 다양성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09544"/>
            <a:ext cx="3163824" cy="6217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AAB7CC"/>
                </a:solidFill>
                <a:latin typeface="Malgun Gothic"/>
              </a:rPr>
              <a:t>제품·버전·로그 차이를 어떤 범위의 어댑터로 지원하나?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2816352"/>
            <a:ext cx="3456432" cy="11338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2880360"/>
            <a:ext cx="50292" cy="1005840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880360"/>
            <a:ext cx="3163824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05  Agent 운영 영향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209544"/>
            <a:ext cx="3163824" cy="6217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AAB7CC"/>
                </a:solidFill>
                <a:latin typeface="Malgun Gothic"/>
              </a:rPr>
              <a:t>CPU·메모리·디스크·네트워크 부하와 장애 시 영향은?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9872" y="2816352"/>
            <a:ext cx="3456432" cy="11338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19872" y="2880360"/>
            <a:ext cx="50292" cy="1005840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2880360"/>
            <a:ext cx="3163824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06  보안·데이터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209544"/>
            <a:ext cx="3163824" cy="6217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AAB7CC"/>
                </a:solidFill>
                <a:latin typeface="Malgun Gothic"/>
              </a:rPr>
              <a:t>민감정보·암호화·접근권한·폐쇄망·보존/삭제 기준은?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" y="4096512"/>
            <a:ext cx="3456432" cy="11338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" y="4160520"/>
            <a:ext cx="50292" cy="1005840"/>
          </a:xfrm>
          <a:prstGeom prst="rect">
            <a:avLst/>
          </a:prstGeom>
          <a:solidFill>
            <a:srgbClr val="FFC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160520"/>
            <a:ext cx="3163824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07  상관관계와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89704"/>
            <a:ext cx="3163824" cy="6217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AAB7CC"/>
                </a:solidFill>
                <a:latin typeface="Malgun Gothic"/>
              </a:rPr>
              <a:t>Trace ID 연결은 인과 증명이 아님. 후보 근거와 한계는?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70832" y="4096512"/>
            <a:ext cx="3456432" cy="11338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70832" y="4160520"/>
            <a:ext cx="50292" cy="1005840"/>
          </a:xfrm>
          <a:prstGeom prst="rect">
            <a:avLst/>
          </a:prstGeom>
          <a:solidFill>
            <a:srgbClr val="42D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4160520"/>
            <a:ext cx="3163824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08  효과·지불 의사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4489704"/>
            <a:ext cx="3163824" cy="6217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AAB7CC"/>
                </a:solidFill>
                <a:latin typeface="Malgun Gothic"/>
              </a:rPr>
              <a:t>초동대응 시간·조사 노력 절감과 구매 의사를 어떻게 검증하나?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19872" y="4096512"/>
            <a:ext cx="3456432" cy="1133856"/>
          </a:xfrm>
          <a:prstGeom prst="roundRect">
            <a:avLst/>
          </a:prstGeom>
          <a:solidFill>
            <a:srgbClr val="131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19872" y="4160520"/>
            <a:ext cx="50292" cy="1005840"/>
          </a:xfrm>
          <a:prstGeom prst="rect">
            <a:avLst/>
          </a:prstGeom>
          <a:solidFill>
            <a:srgbClr val="70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4160520"/>
            <a:ext cx="3163824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6FC"/>
                </a:solidFill>
                <a:latin typeface="Malgun Gothic"/>
              </a:rPr>
              <a:t>09  미충족 업무·적합성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489704"/>
            <a:ext cx="3163824" cy="6217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AAB7CC"/>
                </a:solidFill>
                <a:latin typeface="Malgun Gothic"/>
              </a:rPr>
              <a:t>기존 도구가 해결하지 못하는 구체 사례와 업무는 무엇인가?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" y="5431536"/>
            <a:ext cx="10954512" cy="621792"/>
          </a:xfrm>
          <a:prstGeom prst="roundRect">
            <a:avLst/>
          </a:prstGeom>
          <a:solidFill>
            <a:srgbClr val="19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" y="5495544"/>
            <a:ext cx="10469880" cy="493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FFC36B"/>
                </a:solidFill>
                <a:latin typeface="Malgun Gothic"/>
              </a:rPr>
              <a:t>답변 원칙  |  단정 대신 고객 환경별 연계 검증, 측정 가능한 효과, 명확한 지원 범위를 제시합니다.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" y="6501384"/>
            <a:ext cx="8869680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M-Trace  |  서비스 요청 흐름·장애 원인 추적 솔루션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68128" y="6483096"/>
            <a:ext cx="1371600" cy="2103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B7CC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1406</Words>
  <Application>Microsoft Office PowerPoint</Application>
  <PresentationFormat>와이드스크린</PresentationFormat>
  <Paragraphs>232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M-Trace 기술개발 후보 발표</dc:title>
  <dc:subject>워크숍 아젠다 3에 맞춘 10분 기술 후보 발표</dc:subject>
  <dc:creator>기술지원 엔지니어</dc:creator>
  <cp:keywords/>
  <dc:description>generated using python-pptx</dc:description>
  <cp:lastModifiedBy>상현 박</cp:lastModifiedBy>
  <cp:revision>4</cp:revision>
  <dcterms:created xsi:type="dcterms:W3CDTF">2013-01-27T09:14:16Z</dcterms:created>
  <dcterms:modified xsi:type="dcterms:W3CDTF">2026-10-21T01:54:46Z</dcterms:modified>
  <cp:category/>
</cp:coreProperties>
</file>