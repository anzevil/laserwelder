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15"/>
    <p:sldId id="257" r:id="rId4"/>
    <p:sldId id="258" r:id="rId5"/>
    <p:sldId id="260" r:id="rId7"/>
    <p:sldId id="259" r:id="rId6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6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795528"/>
            <a:ext cx="7040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기술개발 후보 발표  ·  약 10분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36192"/>
            <a:ext cx="64008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600" b="1">
                <a:solidFill>
                  <a:srgbClr val="F3F6FC"/>
                </a:solidFill>
                <a:latin typeface="Malgun Gothic"/>
              </a:rPr>
              <a:t>M-Trace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441448"/>
            <a:ext cx="65836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3F6FC"/>
                </a:solidFill>
                <a:latin typeface="Malgun Gothic"/>
              </a:rPr>
              <a:t>미들웨어 장애분석 도우미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18688"/>
            <a:ext cx="64008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AAB7CC"/>
                </a:solidFill>
                <a:latin typeface="Malgun Gothic"/>
              </a:rPr>
              <a:t>Apache·Tomcat·Scouter 등 미들웨어의 운영 데이터를 연결해
장애 원인 후보와 확인 근거를 제시합니다.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6992" y="786384"/>
            <a:ext cx="3639312" cy="452628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75320" y="1170432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289304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536192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Apache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56648" y="2066543"/>
            <a:ext cx="0" cy="329185"/>
          </a:xfrm>
          <a:prstGeom prst="line">
            <a:avLst/>
          </a:prstGeom>
          <a:ln w="254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75320" y="2432304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55117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WAS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798064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Tomcat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56648" y="3328416"/>
            <a:ext cx="0" cy="329184"/>
          </a:xfrm>
          <a:prstGeom prst="line">
            <a:avLst/>
          </a:prstGeom>
          <a:ln w="254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3694176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3813048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APM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059936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Scouter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09744"/>
            <a:ext cx="6537960" cy="6400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965192"/>
            <a:ext cx="61081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목표  |  초동 분석 시간을 줄이고, 판단 근거를 남기는 진단 보조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501384"/>
            <a:ext cx="8686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기준 환경 예시: Apache · Tomcat · Scouter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01  ·  0:30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46888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 고객 문제와 사업 기회 확인 · 핵심 논의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미들웨어 장애 원인 분석 과정의 문제와 사업 기회를 살펴봅니다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83096"/>
            <a:ext cx="22128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02  ·  2번 / 8분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618488"/>
            <a:ext cx="50292" cy="159105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고객·대상 업무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미들웨어 운영 고객 또는 활용자(엔지니어)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대상 업무: 장애 발생 시 원인 분석·복구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18488"/>
            <a:ext cx="50292" cy="159105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2.2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현재 흐름·사용 솔루션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장애 접수 → 로그 확인 / APM 확인 → 변경 이력·원인 확인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APM: Scouter·와탭·제니퍼·인터맥스 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인프라: Sysmaster·Zenius·G-EMS 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618488"/>
            <a:ext cx="50292" cy="159105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2.3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반복 작업·지연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화면마다 구간별 로그·상태를 찾아 시간을 맞추고 사람이 인과관계를 연결.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담당자 경험에 의존하고 초동 대응이 늦어질 수 있음.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3474720"/>
            <a:ext cx="50292" cy="159105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기존 도구로 남는 공백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분야별 자료는 있지만 연결과 공통 확인 절차는 별도 작업.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팀장이 각 담당자에게 상태·로그를 물어 취합·연결하는 사례.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474720"/>
            <a:ext cx="50292" cy="159105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고객이 얻는 효과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팀장이 정보를 수작업으로 취합하는 대신, 한 담당자가 한 화면에서 전체 상황과 근거를 확인하는 것을 목표로 함.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3474720"/>
            <a:ext cx="50292" cy="159105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6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2.6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다른 고객 적용성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이기종 솔루션별 환경 차이로 생기는 분석 간극을 공통 모델·연결 방식으로 얼마나 수용할 수 있는지 검토.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367528"/>
            <a:ext cx="10927080" cy="53035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5477256"/>
            <a:ext cx="10442448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2D6C1"/>
                </a:solidFill>
                <a:latin typeface="Malgun Gothic"/>
              </a:rPr>
              <a:t>토의 결과물  |  고객 사례로 확인할 핵심 문제 1~3개를 선정 (현재는 조사 필요)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46888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 고객 문제와 사업 기회 확인 · 질문 및 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현장 질문으로 문제의 크기와 우선순위를 확인합니다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83096"/>
            <a:ext cx="22128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03  ·  2번 / 7분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572768"/>
            <a:ext cx="50292" cy="63093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82495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가장 자주 겪는 불편은?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45920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장애 발생 후 원인 분석 과정에서 어떤 업무·구간이 가장 어렵고 오래 걸리는가?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322576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2322576"/>
            <a:ext cx="50292" cy="63093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432304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사람이 다시 확인하는 지점은?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95728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분야별 담당자가 자기 로그를 본 뒤 팀장이 결과를 취합하는가? 이 과정에서 초동 대응은 얼마나 늦어지는가?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072384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072384"/>
            <a:ext cx="50292" cy="63093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82112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현재 도구가 놓치는 맥락은?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45536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각 분야 지표·로그는 보이더라도 로그 간 연결성·인과관계는 별도 확인이 필요한가?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22191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3822191"/>
            <a:ext cx="50292" cy="63093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31920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AI 분석은 어디까지 신뢰할 수 있나?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895344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로그 묶음 분석은 가능하지만, 운영 맥락·인과관계가 빠지거나 모델별 결과가 다를 수 있어 사람의 재검증이 필요한가? 폐쇄망 제약은 있는가?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572000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4572000"/>
            <a:ext cx="50292" cy="63093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681728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효과와 지불 필요성을 어떻게 볼까?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45152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평균 초동 대응시간 감소율·담당자 투입 노력으로 측정할 수 있는가? 24시간 QoS 서비스의 장애 대응 부담은 비용을 지불할 만큼 큰가?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1572768"/>
            <a:ext cx="4069080" cy="194767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1792224"/>
            <a:ext cx="35935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2D6C1"/>
                </a:solidFill>
                <a:latin typeface="Malgun Gothic"/>
              </a:rPr>
              <a:t>사업 기회 가설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2221992"/>
            <a:ext cx="3575304" cy="10332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미들웨어 제품 자체 장애보다, 상향 평준화된 운영 환경에서 이기종 WEB/WAS/APM 정보를 연결하고 대응하는 일이 고객 부담일 수 있음.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24시간 QoS 서비스는 실제 사례·고객 인터뷰로 중요도와 지불 의사 확인 필요.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9792" y="3730752"/>
            <a:ext cx="4069080" cy="12618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79792" y="3730752"/>
            <a:ext cx="50292" cy="126187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08392" y="3922776"/>
            <a:ext cx="3593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36B"/>
                </a:solidFill>
                <a:latin typeface="Malgun Gothic"/>
              </a:rPr>
              <a:t>결정 사항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4315968"/>
            <a:ext cx="3584448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우선 해결할 고객 문제 1~3개: 고객 사례·지원 이력 조사 후 선정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5486400"/>
            <a:ext cx="10927080" cy="438912"/>
          </a:xfrm>
          <a:prstGeom prst="roundRect">
            <a:avLst/>
          </a:prstGeom>
          <a:solidFill>
            <a:srgbClr val="17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5559552"/>
            <a:ext cx="104698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FC36B"/>
                </a:solidFill>
                <a:latin typeface="Malgun Gothic"/>
              </a:rPr>
              <a:t>주의  |  AI 추론의 한계·폐쇄망 제약은 가설이며, 고객 환경과 기존 도구를 확인해 사실·예상을 구분합니다.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3.1–3.3  아이디어 · 문제 · 기존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장애 정보가 계층별로 나뉘어 있어 분석을 수작업으로 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04  ·  1:30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3502152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18488"/>
            <a:ext cx="50292" cy="1938528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313639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3.1  아이디어 명칭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3136392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M-Trace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미들웨어 장애분석 도우미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장애 원인 후보·근거·확인 순서를 한 화면에 정리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18488"/>
            <a:ext cx="3502152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18488"/>
            <a:ext cx="50292" cy="1938528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755648"/>
            <a:ext cx="313639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3.2  해결할 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94560"/>
            <a:ext cx="3136392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Apache 5xx, Tomcat 스레드·커넥션 대기, APM 지연을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서로 다른 로그·화면에서 찾아 맞춰야 함</a:t>
            </a:r>
          </a:p>
          <a:p>
            <a:pPr algn="l">
              <a:spcAft>
                <a:spcPts val="300"/>
              </a:spcAft>
            </a:pPr>
            <a:endParaRPr sz="12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분석 시간·결론이 담당자 경험에 좌우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18488"/>
            <a:ext cx="3483864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618488"/>
            <a:ext cx="50292" cy="1938528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55648"/>
            <a:ext cx="311810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3.3  기존 처리 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94560"/>
            <a:ext cx="3118104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알림 확인 → WEB/WAS 로그 검색 → APM 추이 대조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→ 변경 이력·담당자 확인</a:t>
            </a:r>
          </a:p>
          <a:p>
            <a:pPr algn="l">
              <a:spcAft>
                <a:spcPts val="300"/>
              </a:spcAft>
            </a:pPr>
            <a:endParaRPr sz="12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분석 근거·절차가 사례별로 흩어짐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95344"/>
            <a:ext cx="10927080" cy="138988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096512"/>
            <a:ext cx="2011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고객·운영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50791"/>
            <a:ext cx="84124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목표 고객: Apache·Tomcat·Scouter 등 미들웨어를 운영하는 고객과 기술지원 엔지니어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기대 효과: 원인 후보를 빨리 좁히고, 담당자 간 진단 근거와 확인 절차를 공유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3.4–3.5  제안 방식 · 입력과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읽기 전용 수집 후, 후보·근거·확인 절차로 정리합니다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05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46504"/>
            <a:ext cx="50292" cy="1856231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①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Apache / Tomcat 로그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Scouter 지표·트랜잭션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장애·변경 시각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746504"/>
            <a:ext cx="50292" cy="1856231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75304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② 정규화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시각·호스트·인스턴스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서비스·요청 경로 기준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동일 장애 시간창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1" y="1746504"/>
            <a:ext cx="50292" cy="1856231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3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③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임계치·규칙 + 사례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계층 간 시점·상관 비교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후보별 근거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1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88551" y="1746504"/>
            <a:ext cx="50292" cy="1856231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53143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④ 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3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장애 타임라인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원인 후보·확인 항목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복구 여부 점검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904487"/>
            <a:ext cx="5321808" cy="135331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096512"/>
            <a:ext cx="12984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0824" y="4050791"/>
            <a:ext cx="366674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access/error·Catalina 로그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XLog·XLogProfile·Counter·Object 추이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배포/설정 변경 시각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904487"/>
            <a:ext cx="5349240" cy="135331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4096512"/>
            <a:ext cx="12984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0A9FF"/>
                </a:solidFill>
                <a:latin typeface="Malgun Gothic"/>
              </a:rPr>
              <a:t>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4" y="4050791"/>
            <a:ext cx="365760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시계열 타임라인·영향 계층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근거가 연결된 원인 후보 순위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운영자 확인·복구 점검 항목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14416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AB7CC"/>
                </a:solidFill>
                <a:latin typeface="Malgun Gothic"/>
              </a:rPr>
              <a:t>초기 버전은 운영자가 판단·조치합니다. 자동 설정 변경이나 자동 복구는 수행하지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3.6–3.7  차별점 · 필요한 구현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AI 로그 분석을 대체하기보다, 운영 증거를 구조적으로 연결합니다.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06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73352"/>
            <a:ext cx="3511296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73352"/>
            <a:ext cx="50292" cy="1673352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10512"/>
            <a:ext cx="314553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일괄 로그 분석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49424"/>
            <a:ext cx="3145536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사용자가 로그 묶음을 입력하면
요약·원인 후보를 빠르게 제시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73352"/>
            <a:ext cx="3511296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73352"/>
            <a:ext cx="50292" cy="1673352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10512"/>
            <a:ext cx="314553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M-Trace의 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49424"/>
            <a:ext cx="3145536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운영 데이터를 수집·정규화·연결해
반복 가능한 제품 흐름으로 구성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73352"/>
            <a:ext cx="3483864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673352"/>
            <a:ext cx="50292" cy="167335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11810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핵심 차이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49424"/>
            <a:ext cx="3118104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계층 간 증거와 출처를 추적
AI는 선택적 설명 보조로 활용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621024"/>
            <a:ext cx="10927080" cy="164592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822191"/>
            <a:ext cx="21945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제안 기술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794760"/>
            <a:ext cx="8339327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Java 17+ · Spring Boot · JMX · Fluent Bit · PostgreSQL
Scouter Collector Plugin API (설치 버전·연계 조건 확인 필요)
규칙 기반 상관분석을 핵심으로 하고, LLM은 선택적 설명 기능으로 분리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586984"/>
            <a:ext cx="106984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수집기는 읽기 전용·사내망 우선. 원문 로그 마스킹·보존 기준을 적용하고, LLM 외부 전송은 기본 비활성화.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3.7  시스템 구성 · 데이터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500" b="1">
                <a:solidFill>
                  <a:srgbClr val="F3F6FC"/>
                </a:solidFill>
                <a:latin typeface="Malgun Gothic"/>
              </a:rPr>
              <a:t>WEB·WAS·APM 데이터를 M-Trace에서 수집·연결·분석합니다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07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508760"/>
            <a:ext cx="566928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2D6C1"/>
                </a:solidFill>
                <a:latin typeface="Malgun Gothic"/>
              </a:rPr>
              <a:t>고객사 운영 환경  ·  고객 데이터센터 / 사내망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6096" y="1508760"/>
            <a:ext cx="388620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2D6C1"/>
                </a:solidFill>
                <a:latin typeface="Malgun Gothic"/>
              </a:rPr>
              <a:t>M-Trace 서버  ·  사내망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38528"/>
            <a:ext cx="5010912" cy="8046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93392"/>
            <a:ext cx="50292" cy="69494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88820"/>
            <a:ext cx="4718304" cy="2468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3F6FC"/>
                </a:solidFill>
                <a:latin typeface="Malgun Gothic"/>
              </a:rPr>
              <a:t>WEB 서버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9424"/>
            <a:ext cx="4718304" cy="4663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AAB7CC"/>
                </a:solidFill>
                <a:latin typeface="Malgun Gothic"/>
              </a:rPr>
              <a:t>Apache access/error log  ·  Fluent Bit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889504"/>
            <a:ext cx="5010912" cy="8046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944368"/>
            <a:ext cx="50292" cy="694944"/>
          </a:xfrm>
          <a:prstGeom prst="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39796"/>
            <a:ext cx="4718304" cy="2468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3F6FC"/>
                </a:solidFill>
                <a:latin typeface="Malgun Gothic"/>
              </a:rPr>
              <a:t>WAS 서버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00400"/>
            <a:ext cx="4718304" cy="4663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AAB7CC"/>
                </a:solidFill>
                <a:latin typeface="Malgun Gothic"/>
              </a:rPr>
              <a:t>Tomcat 로그  ·  Fluent Bit  ·  Java JMX Agent (읽기 전용)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40480"/>
            <a:ext cx="5010912" cy="8046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895344"/>
            <a:ext cx="50292" cy="694944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90772"/>
            <a:ext cx="4718304" cy="2468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3F6FC"/>
                </a:solidFill>
                <a:latin typeface="Malgun Gothic"/>
              </a:rPr>
              <a:t>기존 APM  ·  선택 연계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51376"/>
            <a:ext cx="4718304" cy="4663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AAB7CC"/>
                </a:solidFill>
                <a:latin typeface="Malgun Gothic"/>
              </a:rPr>
              <a:t>Scouter API/Collector 또는 타 APM  ·  제품별 연동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1938528"/>
            <a:ext cx="1627632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7CC"/>
                </a:solidFill>
                <a:latin typeface="Malgun Gothic"/>
              </a:rPr>
              <a:t>로그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53328" y="2121408"/>
            <a:ext cx="1298448" cy="164592"/>
          </a:xfrm>
          <a:prstGeom prst="rightArrow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3016" y="2770632"/>
            <a:ext cx="1627632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7CC"/>
                </a:solidFill>
                <a:latin typeface="Malgun Gothic"/>
              </a:rPr>
              <a:t>JMX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53328" y="2953512"/>
            <a:ext cx="1298448" cy="164592"/>
          </a:xfrm>
          <a:prstGeom prst="rightArrow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43016" y="3602736"/>
            <a:ext cx="1627632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7CC"/>
                </a:solidFill>
                <a:latin typeface="Malgun Gothic"/>
              </a:rPr>
              <a:t>APM 데이터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53328" y="3785616"/>
            <a:ext cx="1298448" cy="164592"/>
          </a:xfrm>
          <a:prstGeom prst="rightArrow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26096" y="1847088"/>
            <a:ext cx="3931920" cy="3822191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82127" y="2048256"/>
            <a:ext cx="3419856" cy="54864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82127" y="2103120"/>
            <a:ext cx="50292" cy="438912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7575" y="2098548"/>
            <a:ext cx="3127248" cy="2468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3F6FC"/>
                </a:solidFill>
                <a:latin typeface="Malgun Gothic"/>
              </a:rPr>
              <a:t>Fluent Bit 수집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7575" y="2359152"/>
            <a:ext cx="3127248" cy="210311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AAB7CC"/>
                </a:solidFill>
                <a:latin typeface="Malgun Gothic"/>
              </a:rPr>
              <a:t>WEB / WAS 로그 입력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82127" y="2788920"/>
            <a:ext cx="3419856" cy="54864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82127" y="2843784"/>
            <a:ext cx="50292" cy="438912"/>
          </a:xfrm>
          <a:prstGeom prst="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7575" y="2839212"/>
            <a:ext cx="3127248" cy="2468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3F6FC"/>
                </a:solidFill>
                <a:latin typeface="Malgun Gothic"/>
              </a:rPr>
              <a:t>Java JMX 수집기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7575" y="3099815"/>
            <a:ext cx="3127248" cy="210311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AAB7CC"/>
                </a:solidFill>
                <a:latin typeface="Malgun Gothic"/>
              </a:rPr>
              <a:t>WAS 상태·성능 지표  ·  읽기 전용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82127" y="3529584"/>
            <a:ext cx="3419856" cy="54864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82127" y="3584448"/>
            <a:ext cx="50292" cy="43891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37575" y="3579876"/>
            <a:ext cx="3127248" cy="2468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3F6FC"/>
                </a:solidFill>
                <a:latin typeface="Malgun Gothic"/>
              </a:rPr>
              <a:t>APM 커넥터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7575" y="3840480"/>
            <a:ext cx="3127248" cy="210311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AAB7CC"/>
                </a:solidFill>
                <a:latin typeface="Malgun Gothic"/>
              </a:rPr>
              <a:t>Scouter 선택  ·  타 APM은 별도 커넥터 필요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9473184" y="4096512"/>
            <a:ext cx="182880" cy="164592"/>
          </a:xfrm>
          <a:prstGeom prst="downArrow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882127" y="4297680"/>
            <a:ext cx="3419856" cy="521207"/>
          </a:xfrm>
          <a:prstGeom prst="roundRect">
            <a:avLst/>
          </a:prstGeom>
          <a:solidFill>
            <a:srgbClr val="131D32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0144" y="4343400"/>
            <a:ext cx="3163824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3F6FC"/>
                </a:solidFill>
                <a:latin typeface="Malgun Gothic"/>
              </a:rPr>
              <a:t>정규화 · 시간/호스트/서비스 키
규칙 기반 상관분석 · 후보 근거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82127" y="4956048"/>
            <a:ext cx="1536192" cy="512064"/>
          </a:xfrm>
          <a:prstGeom prst="roundRect">
            <a:avLst/>
          </a:prstGeom>
          <a:solidFill>
            <a:srgbClr val="131D32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79" y="4992624"/>
            <a:ext cx="1389888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AB7CC"/>
                </a:solidFill>
                <a:latin typeface="Malgun Gothic"/>
              </a:rPr>
              <a:t>PostgreSQL
이벤트·근거 저장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82912" y="4956048"/>
            <a:ext cx="1719072" cy="512064"/>
          </a:xfrm>
          <a:prstGeom prst="roundRect">
            <a:avLst/>
          </a:prstGeom>
          <a:solidFill>
            <a:srgbClr val="131D32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56064" y="4992624"/>
            <a:ext cx="1572768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6FC"/>
                </a:solidFill>
                <a:latin typeface="Malgun Gothic"/>
              </a:rPr>
              <a:t>Spring Boot Web
분석·표출 화면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2" y="5797296"/>
            <a:ext cx="3401568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3F6FC"/>
                </a:solidFill>
                <a:latin typeface="Malgun Gothic"/>
              </a:rPr>
              <a:t>운영자 웹브라우저  →  분석 화면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797296"/>
            <a:ext cx="71780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FFC36B"/>
                </a:solidFill>
                <a:latin typeface="Malgun Gothic"/>
              </a:rPr>
              <a:t>Scouter 필수 아님: 로그/JMX로 도입 가능 · APM 연계는 제품별 API·권한 확인 후 추가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3.8  예상 개발 범위 · 기술적 난제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데이터 연결과 근거 산출이 핵심 개발 대상입니다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08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①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표준 어댑터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Apache/Tomcat 로그·JMX
Scouter 관측 데이터 연계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5701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② 정규화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공통 이벤트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시간대·호스트·서비스
요청 경로 키 정규화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③ 상관분석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원인 후보 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오류·대기·지연·변경 시점
같은 시간창에서 연결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1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4855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④ 근거 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운영자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5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후보별 연결 근거·누락 신호
확인 절차와 복구 상태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310128"/>
            <a:ext cx="5285232" cy="1636776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502152"/>
            <a:ext cx="475488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AI 일괄 분석과의 차이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950208"/>
            <a:ext cx="461772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범용 AI: 제공된 로그 묶음을 요약하고 원인 후보를 제시.
M-Trace: 운영 데이터 수집·정규화·계층 간 연결과 근거 이력을 제품 흐름으로 구성.
AI는 배제하지 않고 선택적 설명 보조로 활용.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310128"/>
            <a:ext cx="5349240" cy="1636776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7376" y="3502152"/>
            <a:ext cx="480060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C36B"/>
                </a:solidFill>
                <a:latin typeface="Malgun Gothic"/>
              </a:rPr>
              <a:t>기술 설계의 난제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950208"/>
            <a:ext cx="461772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• 고객별 로그 형식·시간대·식별자 차이
• Scouter 버전·API·수집 권한 차이
• 데이터 누락·상충 시 후보 신뢰도 산정
• 민감정보 마스킹·보존 기준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266944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AAB7CC"/>
                </a:solidFill>
                <a:latin typeface="Malgun Gothic"/>
              </a:rPr>
              <a:t>핵심 기술 설계: 연결 키·시간창·신호 조합에 따른 후보 산출 및 근거 추적 방식을 구체화.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5715000"/>
            <a:ext cx="10789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70A9FF"/>
                </a:solidFill>
                <a:latin typeface="Malgun Gothic"/>
              </a:rPr>
              <a:t>개발 기간은 대상 환경·연계 범위·처리 방식 정의 후 산정합니다.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6016752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기술 설명 자료: 데이터 모델 · 판단 규칙 · 예외 처리 · 자체 개발과 외부 기술 구분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 후보별 기술 구성과 차별점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사용자부터 결과까지, M-Trace 구성요소를 구체화합니다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83096"/>
            <a:ext cx="2130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09  ·  4번 / 20분</a:t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73936"/>
            <a:ext cx="50292" cy="232257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데이터 원천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사용자 / 기술지원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Apache access·error·status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Tomcat JULI·access·JMX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Scouter APM·XLog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773936"/>
            <a:ext cx="50292" cy="232257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읽기 전용 수집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Fluent Bit: 로그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Java JMX reader: WAS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Scouter Collector Plugin 검토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배포·설정 변경 시각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82512" y="1773936"/>
            <a:ext cx="50292" cy="232257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정규화·상관분석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시간대·호스트·서비스 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시간창 내 WEB/WAS/APM 비교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규칙·임계치·사례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후보별 증거 보존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2" y="1773936"/>
            <a:ext cx="228600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62872" y="1773936"/>
            <a:ext cx="50292" cy="232257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0032" y="1984248"/>
            <a:ext cx="20116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결과·저장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496312"/>
            <a:ext cx="201168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장애 타임라인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원인 후보·근거·신뢰도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확인·복구 체크리스트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352544"/>
            <a:ext cx="5303520" cy="133502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" y="4535424"/>
            <a:ext cx="4809744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4.1 구성 경계·외부 기술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919472"/>
            <a:ext cx="4736592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제안 기술: Java 17+ · Spring Boot · JMX · Fluent Bit · PostgreSQL.
Apache/Tomcat/Scouter는 관측 원천; 연계 API·권한은 환경별 확인.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352544"/>
            <a:ext cx="5358384" cy="133502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535424"/>
            <a:ext cx="4864608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0A9FF"/>
                </a:solidFill>
                <a:latin typeface="Malgun Gothic"/>
              </a:rPr>
              <a:t>4.2 입력 → 처리 →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919472"/>
            <a:ext cx="4800600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로그·지표·변경 시각 → 마스킹·파싱·시간 정규화 → 시간창·서비스 키로 상관분석 → 근거와 다음 확인 절차 제시.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843016"/>
            <a:ext cx="108813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Scouter 플러그인은 대상 버전/API·전달 경로·수집 권한·운영 부하 검토가 필요합니다.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 후보별 기술 구성과 차별점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근거와 예외 처리를 설명 가능한 기술 구성으로 설계합니다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83096"/>
            <a:ext cx="2130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10  ·  4번 / 20분</a:t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85232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50292" cy="133502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764792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746504"/>
            <a:ext cx="45720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핵심 판단·예외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57984"/>
            <a:ext cx="495604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오류율·대기·지연 신호를 동일 시간창으로 대조.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서비스·호스트 매핑 불일치, 시간대 차이, 데이터 부족은 표시하고 진단 확신도를 낮춤.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27632"/>
            <a:ext cx="5349240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627632"/>
            <a:ext cx="50292" cy="1335024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764792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1746504"/>
            <a:ext cx="4636007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실패·재처리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57984"/>
            <a:ext cx="5020055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수집 지점·시간·오류를 기록. 일시 오류는 제한 재시도, 중복은 시각/식별자로 제거.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누락은 운영자가 보완 후 해당 구간만 재분석.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191256"/>
            <a:ext cx="5285232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3191256"/>
            <a:ext cx="50292" cy="1335024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3328416"/>
            <a:ext cx="74980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4.5–4.6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10128"/>
            <a:ext cx="425196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차별점과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721608"/>
            <a:ext cx="495604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단순 로그 요약을 넘어 WEB/WAS/APM 관측과 변경 시점을 연결하고 후보별 근거 출처를 추적.
기술 차별점은 연결 키·시간창·후보 산출·근거 관리의 구체적 처리 절차에 둠.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191256"/>
            <a:ext cx="5349240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3191256"/>
            <a:ext cx="50292" cy="133502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3328416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310128"/>
            <a:ext cx="4636007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자체 개발과 외부 기술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721608"/>
            <a:ext cx="5020055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자체: 공통 스키마·어댑터·상관분석·근거 표시.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활용: Apache/Tomcat/Scouter 관측 인터페이스, JMX·Fluent Bit·DB. LLM은 선택적이며 자동조치 안 함.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764024"/>
            <a:ext cx="10927080" cy="106070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946904"/>
            <a:ext cx="2295144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36B"/>
                </a:solidFill>
                <a:latin typeface="Malgun Gothic"/>
              </a:rPr>
              <a:t>4.8  기술 설명 구체화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901184"/>
            <a:ext cx="836676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기술 상담 자료에 연결 기준(호스트·서비스·요청 경로·시간창), 신호별 후보 산출 규칙, 데이터 누락·상충 시 신뢰도 처리, 근거의 원천·출력 형태를 명시.
이는 기술 구성 설명을 위한 설계 항목이며, 신규성·출원 가능성 판단은 변리사 검토 대상.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943600"/>
            <a:ext cx="10789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상세화할 사항: 입력 필드·데이터 흐름·판단 조건·예외 처리·기존 기술 대비 차이.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1406</Words>
  <Application>Microsoft Office PowerPoint</Application>
  <PresentationFormat>와이드스크린</PresentationFormat>
  <Paragraphs>232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M-Trace 기술개발 후보 발표</dc:title>
  <dc:subject>워크숍 아젠다 3에 맞춘 10분 기술 후보 발표</dc:subject>
  <dc:creator>기술지원 엔지니어</dc:creator>
  <cp:keywords/>
  <dc:description>generated using python-pptx</dc:description>
  <cp:lastModifiedBy>상현 박</cp:lastModifiedBy>
  <cp:revision>4</cp:revision>
  <dcterms:created xsi:type="dcterms:W3CDTF">2013-01-27T09:14:16Z</dcterms:created>
  <dcterms:modified xsi:type="dcterms:W3CDTF">2026-10-21T01:54:46Z</dcterms:modified>
  <cp:category/>
</cp:coreProperties>
</file>