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omcat.apache.org/tomcat-10.1-doc/monitoring.html" TargetMode="External"/><Relationship Id="rId2" Type="http://schemas.openxmlformats.org/officeDocument/2006/relationships/hyperlink" Target="https://httpd.apache.org/docs/2.4/mod/mod_status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oracle.com/en/java/javase/17/docs/specs/man/jcmd.html" TargetMode="External"/><Relationship Id="rId5" Type="http://schemas.openxmlformats.org/officeDocument/2006/relationships/hyperlink" Target="https://github.com/scouter-project/scouter/blob/master/scouter.document/main/Server-Plugin-Scripting.md" TargetMode="External"/><Relationship Id="rId4" Type="http://schemas.openxmlformats.org/officeDocument/2006/relationships/hyperlink" Target="https://tomcat.apache.org/tomcat-10.1-doc/logg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09560" y="749808"/>
            <a:ext cx="3703320" cy="532180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47888" y="1188720"/>
            <a:ext cx="3017520" cy="9326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49056" y="1307592"/>
            <a:ext cx="69494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49056" y="1581912"/>
            <a:ext cx="248716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2130552"/>
            <a:ext cx="0" cy="301752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47888" y="2487168"/>
            <a:ext cx="3017520" cy="9326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49056" y="2606039"/>
            <a:ext cx="69494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WAS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880360"/>
            <a:ext cx="248716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47504" y="3429000"/>
            <a:ext cx="0" cy="301752"/>
          </a:xfrm>
          <a:prstGeom prst="line">
            <a:avLst/>
          </a:prstGeom>
          <a:ln w="254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47888" y="3785615"/>
            <a:ext cx="3017520" cy="9326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6" y="3904487"/>
            <a:ext cx="69494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APM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4178807"/>
            <a:ext cx="248716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932688"/>
            <a:ext cx="63550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기술개발 후보 제안  ·  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55064"/>
            <a:ext cx="658368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500" b="1">
                <a:solidFill>
                  <a:srgbClr val="F3F6FC"/>
                </a:solidFill>
                <a:latin typeface="Malgun Gothic"/>
              </a:rPr>
              <a:t>M-Trace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79192"/>
            <a:ext cx="65379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3F6FC"/>
                </a:solidFill>
                <a:latin typeface="Malgun Gothic"/>
              </a:rPr>
              <a:t>미들웨어 장애분석 도우미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456432"/>
            <a:ext cx="621792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로그·APM·JVM 지표를 한 타임라인으로 연결해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AAB7CC"/>
                </a:solidFill>
                <a:latin typeface="Malgun Gothic"/>
              </a:rPr>
              <a:t>원인 후보와 확인 근거를 제시합니다.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846320"/>
            <a:ext cx="6263640" cy="61264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5001768"/>
            <a:ext cx="5852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2D6C1"/>
                </a:solidFill>
                <a:latin typeface="Malgun Gothic"/>
              </a:rPr>
              <a:t>목표  |  장애 분석 시간 단축 · 조치 판단의 일관성 향상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초기 제안  ·  검증 전 가설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01  ·  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01 / 문제와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장애 증거가 계층별로 흩어져 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02  ·  1:00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3493008" cy="19202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18488"/>
            <a:ext cx="50292" cy="1920240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4553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Apache ·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45536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502/503 증가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요청 경로·처리 시간·에러 로그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(Apache 제공 항목은 현장 확인)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18488"/>
            <a:ext cx="3493008" cy="19202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618488"/>
            <a:ext cx="50292" cy="1920240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755648"/>
            <a:ext cx="314553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Tomcat · WAS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194560"/>
            <a:ext cx="3145536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스레드·커넥션 대기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Catalina / 애플리케이션 예외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18488"/>
            <a:ext cx="3493008" cy="19202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18488"/>
            <a:ext cx="50292" cy="1920240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55648"/>
            <a:ext cx="314553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Scouter · APM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145536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트랜잭션 지연·오류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호출 프로파일·JVM 추이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22191"/>
            <a:ext cx="6894576" cy="161848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014215"/>
            <a:ext cx="6355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지원 현장의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80560"/>
            <a:ext cx="6355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“어느 계층에서 시작됐고, 무엇을 확인해야 하나?”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AB7CC"/>
                </a:solidFill>
                <a:latin typeface="Malgun Gothic"/>
              </a:rPr>
              <a:t>사람이 로그·그래프·변경 이력을 오가며 수작업으로 맞춥니다.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3256" y="3822191"/>
            <a:ext cx="3776472" cy="1618488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0144" y="4023360"/>
            <a:ext cx="32461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2D6C1"/>
                </a:solidFill>
                <a:latin typeface="Malgun Gothic"/>
              </a:rPr>
              <a:t>제안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4480560"/>
            <a:ext cx="317296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3F6FC"/>
                </a:solidFill>
                <a:latin typeface="Malgun Gothic"/>
              </a:rPr>
              <a:t>자동 복구가 아닌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3F6FC"/>
                </a:solidFill>
                <a:latin typeface="Malgun Gothic"/>
              </a:rPr>
              <a:t>근거 기반 진단 보조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797296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원인 후보 → 근거 데이터 → 담당자 확인 순서 → 복구 여부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02 / 데이터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이미 운영 중인 로그·지표를 우선 활용합니다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03  · 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81912"/>
            <a:ext cx="3538728" cy="14630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581912"/>
            <a:ext cx="50292" cy="1463040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19072"/>
            <a:ext cx="319125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Apache ·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3191256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access / error log·상태 항목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mod_status ?auto (Apache)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(Apache 제공 항목은 확인)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581912"/>
            <a:ext cx="3538728" cy="14630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581912"/>
            <a:ext cx="50292" cy="1463040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719072"/>
            <a:ext cx="319125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Tomcat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157984"/>
            <a:ext cx="3191256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JULI catalina / localhost / access log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JMX: ThreadPool·요청·DB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81912"/>
            <a:ext cx="3502152" cy="146304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81912"/>
            <a:ext cx="50292" cy="1463040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1546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Scouter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57984"/>
            <a:ext cx="3154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XLog / XLogProfile·error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Counter·Object·Summary 추이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319272"/>
            <a:ext cx="5404104" cy="14904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" y="3319272"/>
            <a:ext cx="50292" cy="149047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3456432"/>
            <a:ext cx="505663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JVM 관측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895344"/>
            <a:ext cx="5056632" cy="8046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GC 로그·heap/CPU 지표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필요 시 jcmd Thread.print (시점 스냅샷)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319272"/>
            <a:ext cx="5340096" cy="149047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08776" y="3319272"/>
            <a:ext cx="50292" cy="149047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91656" y="3456432"/>
            <a:ext cx="499262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변경 맥락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895344"/>
            <a:ext cx="4992624" cy="8046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배포·설정 변경 시각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AAB7CC"/>
                </a:solidFill>
                <a:latin typeface="Malgun Gothic"/>
              </a:rPr>
              <a:t>호스트·서비스·인스턴스 매핑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111496"/>
            <a:ext cx="10927080" cy="72237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" y="5294376"/>
            <a:ext cx="10442448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연결 키  |  시각(시간대 포함) · 호스트/인스턴스 · 서비스/요청 경로 · 오류/상태코드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34456"/>
            <a:ext cx="106527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C36B"/>
                </a:solidFill>
                <a:latin typeface="Malgun Gothic"/>
              </a:rPr>
              <a:t>덤프는 민감정보·대용량 우려가 있어 PoC 자동 수집에서 제외하고, 승인된 건만 별도 분석합니다.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03 / 제안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수집은 읽기 전용, 판단은 근거를 남기도록 설계합니다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04  ·  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2157984" cy="24688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874519"/>
            <a:ext cx="2157984" cy="731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186537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데이터 원천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34056"/>
            <a:ext cx="1865376" cy="1271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Apache 로그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Tomcat 로그·JMX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Scouter APM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배포 이력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74519"/>
            <a:ext cx="2157984" cy="24688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874519"/>
            <a:ext cx="2157984" cy="73152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2103120"/>
            <a:ext cx="186537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수집기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734056"/>
            <a:ext cx="1865376" cy="1271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Fluent Bit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Java JMX reader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Scouter Server Plugin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HTTPS ingest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874519"/>
            <a:ext cx="2157984" cy="24688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1874519"/>
            <a:ext cx="2157984" cy="7315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2103120"/>
            <a:ext cx="186537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정규화·상관분석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734056"/>
            <a:ext cx="1865376" cy="1271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시간·서비스 키 정규화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규칙·임계치·시간창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사례/조치 지식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874519"/>
            <a:ext cx="2267712" cy="24688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62872" y="1874519"/>
            <a:ext cx="2267712" cy="73152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9176" y="2103120"/>
            <a:ext cx="19751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결과·저장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734056"/>
            <a:ext cx="1975104" cy="1271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장애 타임라인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원인 후보 + 근거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PostgreSQL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로컬 LLM (선택)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807208"/>
            <a:ext cx="4389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807208"/>
            <a:ext cx="4389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807208"/>
            <a:ext cx="438912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42D6C1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18304"/>
            <a:ext cx="10917936" cy="102412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882896"/>
            <a:ext cx="219456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2D6C1"/>
                </a:solidFill>
                <a:latin typeface="Malgun Gothic"/>
              </a:rPr>
              <a:t>PoC 구현 스택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864608"/>
            <a:ext cx="8211312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Java 17+ · Spring Boot · JMX (JDK 기본) · Scouter Java Plugin API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Fluent Bit · PostgreSQL(JSONB) · HTTPS / 사내 인증 · LLM은 분리 가능한 설명 계층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961888"/>
            <a:ext cx="10698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※ Scouter 우선 연계안은 Collector Plugin: 수신 팩을 저장 전 처리하는 공식 확장 지점. 설치 버전·부하·전달 방식 사전 검증.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04 / 처리 흐름 예시 (가상)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교차 증거로 원인 후보를 좁히고 확인 절차를 제시합니다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05  ·  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18488"/>
            <a:ext cx="4590288" cy="437083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087368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같은 장애 구간의 관측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2304"/>
            <a:ext cx="6309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14:00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32304"/>
            <a:ext cx="1353312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3F6FC"/>
                </a:solidFill>
                <a:latin typeface="Malgun Gothic"/>
              </a:rPr>
              <a:t>배포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32304"/>
            <a:ext cx="193852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새 변경 발생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07008" y="2734056"/>
            <a:ext cx="0" cy="320040"/>
          </a:xfrm>
          <a:prstGeom prst="line">
            <a:avLst/>
          </a:prstGeom>
          <a:ln w="1905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6968" y="3145536"/>
            <a:ext cx="6309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14:02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145536"/>
            <a:ext cx="1353312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3F6FC"/>
                </a:solidFill>
                <a:latin typeface="Malgun Gothic"/>
              </a:rPr>
              <a:t>Apache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45536"/>
            <a:ext cx="193852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502/503 비율 상승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07008" y="3447288"/>
            <a:ext cx="0" cy="320040"/>
          </a:xfrm>
          <a:prstGeom prst="line">
            <a:avLst/>
          </a:prstGeom>
          <a:ln w="1905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3858768"/>
            <a:ext cx="6309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70A9FF"/>
                </a:solidFill>
                <a:latin typeface="Malgun Gothic"/>
              </a:rPr>
              <a:t>14:02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858768"/>
            <a:ext cx="1353312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3F6FC"/>
                </a:solidFill>
                <a:latin typeface="Malgun Gothic"/>
              </a:rPr>
              <a:t>Tomcat JMX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58768"/>
            <a:ext cx="193852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busy threads 200/200*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07008" y="4160520"/>
            <a:ext cx="0" cy="320040"/>
          </a:xfrm>
          <a:prstGeom prst="line">
            <a:avLst/>
          </a:prstGeom>
          <a:ln w="1905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968" y="4572000"/>
            <a:ext cx="6309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C36B"/>
                </a:solidFill>
                <a:latin typeface="Malgun Gothic"/>
              </a:rPr>
              <a:t>14:02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572000"/>
            <a:ext cx="1353312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3F6FC"/>
                </a:solidFill>
                <a:latin typeface="Malgun Gothic"/>
              </a:rPr>
              <a:t>Scouter XLog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572000"/>
            <a:ext cx="193852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지연 구간의 DB 호출 증가*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40680"/>
            <a:ext cx="39776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* 설명용 예시이며 실제 제품 데이터로 검증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31536" y="1618488"/>
            <a:ext cx="6108192" cy="437083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96712" y="1828800"/>
            <a:ext cx="54406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2D6C1"/>
                </a:solidFill>
                <a:latin typeface="Malgun Gothic"/>
              </a:rPr>
              <a:t>도우미가 만드는 결과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87568" y="2350008"/>
            <a:ext cx="5541264" cy="1097280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87568" y="2350008"/>
            <a:ext cx="50292" cy="1097280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70448" y="2487168"/>
            <a:ext cx="51937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① 후보: Tomcat → DB 대기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2926079"/>
            <a:ext cx="5193792" cy="4114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근거: WAS 스레드 포화 시각과 지연 트랜잭션의 DB 구간이 겹침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87568" y="3621024"/>
            <a:ext cx="5541264" cy="1060704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87568" y="3621024"/>
            <a:ext cx="50292" cy="1060704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70448" y="3758184"/>
            <a:ext cx="51937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② 확인: pool / DB 상태와 변경 비교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197096"/>
            <a:ext cx="5193792" cy="3749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Datasource active·max·wait, DB 예외 로그, 배포 전후 지표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87568" y="4855464"/>
            <a:ext cx="5541264" cy="94183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87568" y="4855464"/>
            <a:ext cx="50292" cy="941832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70448" y="4992624"/>
            <a:ext cx="51937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③ 복구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431536"/>
            <a:ext cx="51937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오류율·대기·지연 지표가 정상 범위로 돌아왔는지 재확인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05 / 특장점과 운영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차별점은 AI가 아니라 미들웨어 계층 간 상관분석입니다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06  ·  1:00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73352"/>
            <a:ext cx="3511296" cy="184708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73352"/>
            <a:ext cx="50292" cy="1847088"/>
          </a:xfrm>
          <a:prstGeom prst="rect">
            <a:avLst/>
          </a:prstGeom>
          <a:solidFill>
            <a:srgbClr val="7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6382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현재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163824" cy="1161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로그 검색·APM 화면·알림은 각각 제공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엔지니어가 화면을 오가며 맥락을 직접 결합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73352"/>
            <a:ext cx="3511296" cy="184708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50292" cy="1847088"/>
          </a:xfrm>
          <a:prstGeom prst="rect">
            <a:avLst/>
          </a:prstGeom>
          <a:solidFill>
            <a:srgbClr val="42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16382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제안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9424"/>
            <a:ext cx="3163824" cy="1161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시간·서비스·요청 흐름으로 증거 연결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원인 후보마다 데이터와 확인 항목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73352"/>
            <a:ext cx="3483864" cy="1847088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73352"/>
            <a:ext cx="50292" cy="1847088"/>
          </a:xfrm>
          <a:prstGeom prst="rect">
            <a:avLst/>
          </a:prstGeom>
          <a:solidFill>
            <a:srgbClr val="FFC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363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기대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9424"/>
            <a:ext cx="3136392" cy="1161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초동 분석의 속도·재현성 향상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AB7CC"/>
                </a:solidFill>
                <a:latin typeface="Malgun Gothic"/>
              </a:rPr>
              <a:t>인수인계·사례 축적 지원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03904"/>
            <a:ext cx="10927080" cy="160020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986784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운영 안전장치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59352"/>
            <a:ext cx="8366760" cy="1161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읽기 전용 연결·사내망 우선  |  JMX 원격은 인증/TLS 구성 검토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로그의 토큰·세션·개인정보 마스킹 및 보존기간 설정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힙 덤프는 기본 제외  |  자동 설정 변경·재시작·복구는 하지 않음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3F6FC"/>
                </a:solidFill>
                <a:latin typeface="Malgun Gothic"/>
              </a:rPr>
              <a:t>LLM은 선택 적용: 근거 요약만 허용하고 원문·민감데이터 전달을 통제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751576"/>
            <a:ext cx="10561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AB7CC"/>
                </a:solidFill>
                <a:latin typeface="Malgun Gothic"/>
              </a:rPr>
              <a:t>Apache·Tomcat·Scouter를 대체하지 않고, 각 도구의 관측 결과를 지원 업무 흐름에 맞게 묶습니다.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06 / 단계별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작은 PoC로 현장 데이터·효과부터 확인합니다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07  · 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19072"/>
            <a:ext cx="2532888" cy="153619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01952"/>
            <a:ext cx="22219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221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사례·기준선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60904"/>
            <a:ext cx="22219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익명화 장애 사례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진단시간·원인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221992"/>
            <a:ext cx="228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532888" cy="153619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901952"/>
            <a:ext cx="22219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221992"/>
            <a:ext cx="2221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기본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60904"/>
            <a:ext cx="22219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Apache/Tomcat 로그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JMX 핵심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21992"/>
            <a:ext cx="228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19072"/>
            <a:ext cx="2532888" cy="153619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901952"/>
            <a:ext cx="22219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3주차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221992"/>
            <a:ext cx="2221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APM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60904"/>
            <a:ext cx="22219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Scouter Plugin POC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시각·서비스 상관분석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221992"/>
            <a:ext cx="228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0A9FF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719072"/>
            <a:ext cx="2532888" cy="1536192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7424" y="1901952"/>
            <a:ext cx="2221992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4주차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21992"/>
            <a:ext cx="2221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3F6FC"/>
                </a:solidFill>
                <a:latin typeface="Malgun Gothic"/>
              </a:rPr>
              <a:t>재현 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660904"/>
            <a:ext cx="22219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타임라인·근거 화면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사례 재생·오탐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3575304"/>
            <a:ext cx="6675120" cy="198424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767328"/>
            <a:ext cx="613562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2D6C1"/>
                </a:solidFill>
                <a:latin typeface="Malgun Gothic"/>
              </a:rPr>
              <a:t>측정할 PoC 가설 (기준선 대비)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242816"/>
            <a:ext cx="6016752" cy="10149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• 장애 분석 소요시간 감소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• 실제 원인이 Top-3 후보에 포함되는 비율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• 데이터 누락·오탐률 및 수집기 자원 영향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34656" y="3575304"/>
            <a:ext cx="4014215" cy="1984248"/>
          </a:xfrm>
          <a:prstGeom prst="roundRect">
            <a:avLst/>
          </a:prstGeom>
          <a:solidFill>
            <a:srgbClr val="17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0" y="3767328"/>
            <a:ext cx="35204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C36B"/>
                </a:solidFill>
                <a:latin typeface="Malgun Gothic"/>
              </a:rPr>
              <a:t>필요한 협조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42816"/>
            <a:ext cx="3456432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익명화된 장애 사례 10~20건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운영 로그·JMX 권한 협의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3F6FC"/>
                </a:solidFill>
                <a:latin typeface="Malgun Gothic"/>
              </a:rPr>
              <a:t>Scouter 버전·플러그인 시험환경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43016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AB7CC"/>
                </a:solidFill>
                <a:latin typeface="Malgun Gothic"/>
              </a:rPr>
              <a:t>4주는 제안 일정(가설)이며, 데이터 제공·Scouter 연계 난이도 확인 후 확정합니다.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2D6C1"/>
                </a:solidFill>
                <a:latin typeface="Malgun Gothic"/>
              </a:rPr>
              <a:t>07 / 요청 사항 ·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92708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3F6FC"/>
                </a:solidFill>
                <a:latin typeface="Malgun Gothic"/>
              </a:rPr>
              <a:t>오늘 정할 것: 검토 후보로 삼고 PoC 범위를 협의합니다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307592"/>
            <a:ext cx="11009376" cy="0"/>
          </a:xfrm>
          <a:prstGeom prst="line">
            <a:avLst/>
          </a:prstGeom>
          <a:ln w="12700">
            <a:solidFill>
              <a:srgbClr val="29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510528"/>
            <a:ext cx="8961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M-Trace  |  미들웨어 장애분석 도우미 (가제)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92240"/>
            <a:ext cx="14173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AAB7CC"/>
                </a:solidFill>
                <a:latin typeface="Malgun Gothic"/>
              </a:rPr>
              <a:t>08  ·  0:30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4864608" cy="3419856"/>
          </a:xfrm>
          <a:prstGeom prst="roundRect">
            <a:avLst/>
          </a:prstGeom>
          <a:solidFill>
            <a:srgbClr val="13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325112" cy="3566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42D6C1"/>
                </a:solidFill>
                <a:latin typeface="Malgun Gothic"/>
              </a:rPr>
              <a:t>워크숍에서 필요한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4206240" cy="22128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1. 장애 분석 시간을 줄일 문제인지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2. 제공 가능한 로그·APM 데이터 범위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3. Scouter Collector Plugin 시험 가능 여부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4. 익명 장애 사례·담당자·PoC 일정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3F6FC"/>
                </a:solidFill>
                <a:latin typeface="Malgun Gothic"/>
              </a:rPr>
              <a:t>5. 목표 지표와 보안·보존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42432" y="1664208"/>
            <a:ext cx="5806440" cy="3419856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07608" y="1901952"/>
            <a:ext cx="5257800" cy="3566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3F6FC"/>
                </a:solidFill>
                <a:latin typeface="Malgun Gothic"/>
              </a:rPr>
              <a:t>기술 근거 · 추가 확인 자료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6035040" y="2487168"/>
            <a:ext cx="5138928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0A9FF"/>
                </a:solidFill>
                <a:latin typeface="Malgun Gothic"/>
              </a:rPr>
              <a:t>Apache mod_status (machine-readable ?auto)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6035040" y="2916936"/>
            <a:ext cx="5138928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0A9FF"/>
                </a:solidFill>
                <a:latin typeface="Malgun Gothic"/>
              </a:rPr>
              <a:t>Tomcat 10.1 Monitoring / JMX</a:t>
            </a:r>
          </a:p>
        </p:txBody>
      </p:sp>
      <p:sp>
        <p:nvSpPr>
          <p:cNvPr id="14" name="TextBox 13">
            <a:hlinkClick r:id="rId4"/>
          </p:cNvPr>
          <p:cNvSpPr txBox="1"/>
          <p:nvPr/>
        </p:nvSpPr>
        <p:spPr>
          <a:xfrm>
            <a:off x="6035040" y="3346704"/>
            <a:ext cx="5138928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0A9FF"/>
                </a:solidFill>
                <a:latin typeface="Malgun Gothic"/>
              </a:rPr>
              <a:t>Tomcat JULI Logging</a:t>
            </a:r>
          </a:p>
        </p:txBody>
      </p:sp>
      <p:sp>
        <p:nvSpPr>
          <p:cNvPr id="15" name="TextBox 14">
            <a:hlinkClick r:id="rId5"/>
          </p:cNvPr>
          <p:cNvSpPr txBox="1"/>
          <p:nvPr/>
        </p:nvSpPr>
        <p:spPr>
          <a:xfrm>
            <a:off x="6035040" y="3776472"/>
            <a:ext cx="5138928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0A9FF"/>
                </a:solidFill>
                <a:latin typeface="Malgun Gothic"/>
              </a:rPr>
              <a:t>Scouter Server Plugin Guide</a:t>
            </a:r>
          </a:p>
        </p:txBody>
      </p:sp>
      <p:sp>
        <p:nvSpPr>
          <p:cNvPr id="16" name="TextBox 15">
            <a:hlinkClick r:id="rId6"/>
          </p:cNvPr>
          <p:cNvSpPr txBox="1"/>
          <p:nvPr/>
        </p:nvSpPr>
        <p:spPr>
          <a:xfrm>
            <a:off x="6035040" y="4206240"/>
            <a:ext cx="5138928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0A9FF"/>
                </a:solidFill>
                <a:latin typeface="Malgun Gothic"/>
              </a:rPr>
              <a:t>Java 17 jcmd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08570"/>
            <a:ext cx="1074420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3F6FC"/>
                </a:solidFill>
                <a:latin typeface="Malgun Gothic"/>
              </a:rPr>
              <a:t>기대 결과  |  전문가·현장 검증으로 이어질 수 있는, 측정 가능한 기술개발 후보 1개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EF010FA-2BCF-3642-CAE9-D27A9DB6E643}"/>
              </a:ext>
            </a:extLst>
          </p:cNvPr>
          <p:cNvSpPr/>
          <p:nvPr/>
        </p:nvSpPr>
        <p:spPr>
          <a:xfrm>
            <a:off x="621792" y="5093208"/>
            <a:ext cx="10927081" cy="905256"/>
          </a:xfrm>
          <a:prstGeom prst="roundRect">
            <a:avLst/>
          </a:prstGeom>
          <a:solidFill>
            <a:srgbClr val="19264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5989A4-97A0-B1A9-07CD-EDDE0D0DC34A}"/>
              </a:ext>
            </a:extLst>
          </p:cNvPr>
          <p:cNvSpPr txBox="1"/>
          <p:nvPr/>
        </p:nvSpPr>
        <p:spPr>
          <a:xfrm>
            <a:off x="832104" y="5175504"/>
            <a:ext cx="10424160" cy="153888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r>
              <a:rPr lang="ko-KR" altLang="en-US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차후 로드맵  </a:t>
            </a:r>
            <a:r>
              <a:rPr lang="en-US" altLang="ko-KR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|  </a:t>
            </a:r>
            <a:r>
              <a:rPr lang="ko-KR" altLang="en-US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이번 </a:t>
            </a:r>
            <a:r>
              <a:rPr lang="en-US" altLang="ko-KR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PoC</a:t>
            </a:r>
            <a:r>
              <a:rPr lang="ko-KR" altLang="en-US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는 </a:t>
            </a:r>
            <a:r>
              <a:rPr lang="en-US" altLang="ko-KR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Apache · Tomcat · Scouter</a:t>
            </a:r>
            <a:r>
              <a:rPr lang="ko-KR" altLang="en-US" sz="1000" b="1">
                <a:solidFill>
                  <a:srgbClr val="42D6C1"/>
                </a:solidFill>
                <a:latin typeface="Malgun Gothic" panose="020B0503020000020004" pitchFamily="34" charset="-127"/>
              </a:rPr>
              <a:t>부터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2FB64EC-2114-6441-7B5A-D85BBE776CDE}"/>
              </a:ext>
            </a:extLst>
          </p:cNvPr>
          <p:cNvSpPr/>
          <p:nvPr/>
        </p:nvSpPr>
        <p:spPr>
          <a:xfrm>
            <a:off x="832104" y="5440680"/>
            <a:ext cx="3072384" cy="393192"/>
          </a:xfrm>
          <a:prstGeom prst="roundRect">
            <a:avLst/>
          </a:prstGeom>
          <a:solidFill>
            <a:srgbClr val="131D3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9EE1D7-70E6-F3E3-7F36-07B667C80346}"/>
              </a:ext>
            </a:extLst>
          </p:cNvPr>
          <p:cNvSpPr txBox="1"/>
          <p:nvPr/>
        </p:nvSpPr>
        <p:spPr>
          <a:xfrm>
            <a:off x="886968" y="5518404"/>
            <a:ext cx="2962656" cy="138499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pPr algn="ctr"/>
            <a:r>
              <a:rPr lang="en-US" altLang="ko-KR" sz="900" b="1">
                <a:solidFill>
                  <a:srgbClr val="F3F6FC"/>
                </a:solidFill>
                <a:latin typeface="Malgun Gothic" panose="020B0503020000020004" pitchFamily="34" charset="-127"/>
              </a:rPr>
              <a:t>1</a:t>
            </a:r>
            <a:r>
              <a:rPr lang="ko-KR" altLang="en-US" sz="900" b="1">
                <a:solidFill>
                  <a:srgbClr val="F3F6FC"/>
                </a:solidFill>
                <a:latin typeface="Malgun Gothic" panose="020B0503020000020004" pitchFamily="34" charset="-127"/>
              </a:rPr>
              <a:t>차 </a:t>
            </a:r>
            <a:r>
              <a:rPr lang="en-US" altLang="ko-KR" sz="900" b="1">
                <a:solidFill>
                  <a:srgbClr val="F3F6FC"/>
                </a:solidFill>
                <a:latin typeface="Malgun Gothic" panose="020B0503020000020004" pitchFamily="34" charset="-127"/>
              </a:rPr>
              <a:t>PoC  ·  Apache / Tomcat / Scouter</a:t>
            </a:r>
            <a:endParaRPr lang="ko-KR" altLang="en-US" sz="900" b="1">
              <a:solidFill>
                <a:srgbClr val="F3F6FC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941F5D8-866B-4D8F-7B05-A8B7826D4AE7}"/>
              </a:ext>
            </a:extLst>
          </p:cNvPr>
          <p:cNvSpPr/>
          <p:nvPr/>
        </p:nvSpPr>
        <p:spPr>
          <a:xfrm>
            <a:off x="4562856" y="5440680"/>
            <a:ext cx="3108960" cy="393192"/>
          </a:xfrm>
          <a:prstGeom prst="roundRect">
            <a:avLst/>
          </a:prstGeom>
          <a:solidFill>
            <a:srgbClr val="131D3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62E6AF-774E-091C-B171-74DF0826896B}"/>
              </a:ext>
            </a:extLst>
          </p:cNvPr>
          <p:cNvSpPr txBox="1"/>
          <p:nvPr/>
        </p:nvSpPr>
        <p:spPr>
          <a:xfrm>
            <a:off x="4617720" y="5518404"/>
            <a:ext cx="2999232" cy="138499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3F6FC"/>
                </a:solidFill>
                <a:latin typeface="Malgun Gothic" panose="020B0503020000020004" pitchFamily="34" charset="-127"/>
              </a:rPr>
              <a:t>추가 </a:t>
            </a:r>
            <a:r>
              <a:rPr lang="en-US" altLang="ko-KR" sz="900" b="1">
                <a:solidFill>
                  <a:srgbClr val="F3F6FC"/>
                </a:solidFill>
                <a:latin typeface="Malgun Gothic" panose="020B0503020000020004" pitchFamily="34" charset="-127"/>
              </a:rPr>
              <a:t>WEB/WAS  ·  Nginx / WildFly / JEUS</a:t>
            </a:r>
            <a:endParaRPr lang="ko-KR" altLang="en-US" sz="900" b="1">
              <a:solidFill>
                <a:srgbClr val="F3F6FC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56EE8C-543A-B77D-2CA0-33C147E91E95}"/>
              </a:ext>
            </a:extLst>
          </p:cNvPr>
          <p:cNvSpPr/>
          <p:nvPr/>
        </p:nvSpPr>
        <p:spPr>
          <a:xfrm>
            <a:off x="8330184" y="5440680"/>
            <a:ext cx="2962655" cy="393192"/>
          </a:xfrm>
          <a:prstGeom prst="roundRect">
            <a:avLst/>
          </a:prstGeom>
          <a:solidFill>
            <a:srgbClr val="131D3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BE238E-BD68-5307-8EF0-55C7A828340F}"/>
              </a:ext>
            </a:extLst>
          </p:cNvPr>
          <p:cNvSpPr txBox="1"/>
          <p:nvPr/>
        </p:nvSpPr>
        <p:spPr>
          <a:xfrm>
            <a:off x="8385048" y="5518404"/>
            <a:ext cx="2852928" cy="138499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F3F6FC"/>
                </a:solidFill>
                <a:latin typeface="Malgun Gothic" panose="020B0503020000020004" pitchFamily="34" charset="-127"/>
              </a:rPr>
              <a:t>관측 연계  </a:t>
            </a:r>
            <a:r>
              <a:rPr lang="en-US" altLang="ko-KR" sz="900" b="1">
                <a:solidFill>
                  <a:srgbClr val="F3F6FC"/>
                </a:solidFill>
                <a:latin typeface="Malgun Gothic" panose="020B0503020000020004" pitchFamily="34" charset="-127"/>
              </a:rPr>
              <a:t>·  OpenTelemetry</a:t>
            </a:r>
            <a:endParaRPr lang="ko-KR" altLang="en-US" sz="900" b="1">
              <a:solidFill>
                <a:srgbClr val="F3F6FC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919EB9-479E-D722-BDA6-6FD18DC9CD11}"/>
              </a:ext>
            </a:extLst>
          </p:cNvPr>
          <p:cNvSpPr txBox="1"/>
          <p:nvPr/>
        </p:nvSpPr>
        <p:spPr>
          <a:xfrm>
            <a:off x="4041648" y="5486400"/>
            <a:ext cx="365760" cy="230832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pPr algn="ctr"/>
            <a:r>
              <a:rPr lang="ko-KR" altLang="en-US" sz="1500" b="1">
                <a:solidFill>
                  <a:srgbClr val="42D6C1"/>
                </a:solidFill>
                <a:latin typeface="Malgun Gothic" panose="020B0503020000020004" pitchFamily="34" charset="-127"/>
              </a:rPr>
              <a:t>→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F57BD9-32D6-BDBE-0A76-7053BFD9B387}"/>
              </a:ext>
            </a:extLst>
          </p:cNvPr>
          <p:cNvSpPr txBox="1"/>
          <p:nvPr/>
        </p:nvSpPr>
        <p:spPr>
          <a:xfrm>
            <a:off x="7808976" y="5486400"/>
            <a:ext cx="365760" cy="230832"/>
          </a:xfrm>
          <a:prstGeom prst="rect">
            <a:avLst/>
          </a:prstGeom>
          <a:noFill/>
        </p:spPr>
        <p:txBody>
          <a:bodyPr vert="horz" wrap="square" lIns="25400" tIns="0" rIns="25400" bIns="0" rtlCol="0" anchor="ctr">
            <a:spAutoFit/>
          </a:bodyPr>
          <a:lstStyle/>
          <a:p>
            <a:pPr algn="ctr"/>
            <a:r>
              <a:rPr lang="ko-KR" altLang="en-US" sz="1500" b="1">
                <a:solidFill>
                  <a:srgbClr val="42D6C1"/>
                </a:solidFill>
                <a:latin typeface="Malgun Gothic" panose="020B0503020000020004" pitchFamily="34" charset="-127"/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1012</Words>
  <Application>Microsoft Office PowerPoint</Application>
  <PresentationFormat>와이드스크린</PresentationFormat>
  <Paragraphs>186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M-Trace 미들웨어 장애분석 도우미 — 기술개발 후보 제안</dc:title>
  <dc:subject>Apache, Tomcat, Scouter 기반 10분 워크숍 발표자료</dc:subject>
  <dc:creator>기술지원 엔지니어</dc:creator>
  <cp:keywords>Apache, Tomcat, Scouter, 장애분석, 미들웨어, PoC</cp:keywords>
  <dc:description>generated using python-pptx</dc:description>
  <cp:lastModifiedBy>상현 박</cp:lastModifiedBy>
  <cp:revision>2</cp:revision>
  <dcterms:created xsi:type="dcterms:W3CDTF">2013-01-27T09:14:16Z</dcterms:created>
  <dcterms:modified xsi:type="dcterms:W3CDTF">2026-10-20T14:48:47Z</dcterms:modified>
  <cp:category/>
</cp:coreProperties>
</file>